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Times New Roman MT" charset="1" panose="02030502070405020303"/>
      <p:regular r:id="rId24"/>
    </p:embeddedFont>
    <p:embeddedFont>
      <p:font typeface="Times New Roman MT Bold" charset="1" panose="02030802070405020303"/>
      <p:regular r:id="rId25"/>
    </p:embeddedFont>
    <p:embeddedFont>
      <p:font typeface="Canva Sans Bold" charset="1" panose="020B0803030501040103"/>
      <p:regular r:id="rId26"/>
    </p:embeddedFont>
    <p:embeddedFont>
      <p:font typeface="League Spartan" charset="1" panose="00000800000000000000"/>
      <p:regular r:id="rId27"/>
    </p:embeddedFont>
    <p:embeddedFont>
      <p:font typeface="Times New Roman MT Italics" charset="1" panose="02030502070405090303"/>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png" Type="http://schemas.openxmlformats.org/officeDocument/2006/relationships/image"/><Relationship Id="rId12" Target="../media/image1.png" Type="http://schemas.openxmlformats.org/officeDocument/2006/relationships/image"/><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 Id="rId8" Target="../media/image12.png" Type="http://schemas.openxmlformats.org/officeDocument/2006/relationships/image"/><Relationship Id="rId9"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11" Target="../media/image25.png" Type="http://schemas.openxmlformats.org/officeDocument/2006/relationships/image"/><Relationship Id="rId12" Target="../media/image1.png" Type="http://schemas.openxmlformats.org/officeDocument/2006/relationships/image"/><Relationship Id="rId2" Target="../media/image16.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 Id="rId7" Target="../media/image21.png" Type="http://schemas.openxmlformats.org/officeDocument/2006/relationships/image"/><Relationship Id="rId8" Target="../media/image22.png" Type="http://schemas.openxmlformats.org/officeDocument/2006/relationships/image"/><Relationship Id="rId9" Target="../media/image2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png" Type="http://schemas.openxmlformats.org/officeDocument/2006/relationships/image"/><Relationship Id="rId11" Target="../media/image35.png" Type="http://schemas.openxmlformats.org/officeDocument/2006/relationships/image"/><Relationship Id="rId12" Target="../media/image36.png" Type="http://schemas.openxmlformats.org/officeDocument/2006/relationships/image"/><Relationship Id="rId13" Target="../media/image37.png" Type="http://schemas.openxmlformats.org/officeDocument/2006/relationships/image"/><Relationship Id="rId14" Target="../media/image38.png" Type="http://schemas.openxmlformats.org/officeDocument/2006/relationships/image"/><Relationship Id="rId15" Target="../media/image1.png" Type="http://schemas.openxmlformats.org/officeDocument/2006/relationships/image"/><Relationship Id="rId2" Target="../media/image26.png" Type="http://schemas.openxmlformats.org/officeDocument/2006/relationships/image"/><Relationship Id="rId3" Target="../media/image27.png" Type="http://schemas.openxmlformats.org/officeDocument/2006/relationships/image"/><Relationship Id="rId4" Target="../media/image28.png" Type="http://schemas.openxmlformats.org/officeDocument/2006/relationships/image"/><Relationship Id="rId5" Target="../media/image29.png" Type="http://schemas.openxmlformats.org/officeDocument/2006/relationships/image"/><Relationship Id="rId6" Target="../media/image30.png" Type="http://schemas.openxmlformats.org/officeDocument/2006/relationships/image"/><Relationship Id="rId7" Target="../media/image31.png" Type="http://schemas.openxmlformats.org/officeDocument/2006/relationships/image"/><Relationship Id="rId8" Target="../media/image32.png" Type="http://schemas.openxmlformats.org/officeDocument/2006/relationships/image"/><Relationship Id="rId9" Target="../media/image3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7.png" Type="http://schemas.openxmlformats.org/officeDocument/2006/relationships/image"/><Relationship Id="rId11" Target="../media/image1.png" Type="http://schemas.openxmlformats.org/officeDocument/2006/relationships/image"/><Relationship Id="rId2" Target="../media/image39.png" Type="http://schemas.openxmlformats.org/officeDocument/2006/relationships/image"/><Relationship Id="rId3" Target="../media/image40.png" Type="http://schemas.openxmlformats.org/officeDocument/2006/relationships/image"/><Relationship Id="rId4" Target="../media/image41.png" Type="http://schemas.openxmlformats.org/officeDocument/2006/relationships/image"/><Relationship Id="rId5" Target="../media/image42.png" Type="http://schemas.openxmlformats.org/officeDocument/2006/relationships/image"/><Relationship Id="rId6" Target="../media/image43.png" Type="http://schemas.openxmlformats.org/officeDocument/2006/relationships/image"/><Relationship Id="rId7" Target="../media/image44.png" Type="http://schemas.openxmlformats.org/officeDocument/2006/relationships/image"/><Relationship Id="rId8" Target="../media/image45.png" Type="http://schemas.openxmlformats.org/officeDocument/2006/relationships/image"/><Relationship Id="rId9" Target="../media/image4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6.png" Type="http://schemas.openxmlformats.org/officeDocument/2006/relationships/image"/><Relationship Id="rId11" Target="../media/image57.png" Type="http://schemas.openxmlformats.org/officeDocument/2006/relationships/image"/><Relationship Id="rId12" Target="../media/image1.png" Type="http://schemas.openxmlformats.org/officeDocument/2006/relationships/image"/><Relationship Id="rId2" Target="../media/image48.png" Type="http://schemas.openxmlformats.org/officeDocument/2006/relationships/image"/><Relationship Id="rId3" Target="../media/image49.png" Type="http://schemas.openxmlformats.org/officeDocument/2006/relationships/image"/><Relationship Id="rId4" Target="../media/image50.png" Type="http://schemas.openxmlformats.org/officeDocument/2006/relationships/image"/><Relationship Id="rId5" Target="../media/image51.png" Type="http://schemas.openxmlformats.org/officeDocument/2006/relationships/image"/><Relationship Id="rId6" Target="../media/image52.png" Type="http://schemas.openxmlformats.org/officeDocument/2006/relationships/image"/><Relationship Id="rId7" Target="../media/image53.png" Type="http://schemas.openxmlformats.org/officeDocument/2006/relationships/image"/><Relationship Id="rId8" Target="../media/image54.png" Type="http://schemas.openxmlformats.org/officeDocument/2006/relationships/image"/><Relationship Id="rId9" Target="../media/image5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png" Type="http://schemas.openxmlformats.org/officeDocument/2006/relationships/image"/><Relationship Id="rId2" Target="../media/image58.png" Type="http://schemas.openxmlformats.org/officeDocument/2006/relationships/image"/><Relationship Id="rId3" Target="../media/image59.png" Type="http://schemas.openxmlformats.org/officeDocument/2006/relationships/image"/><Relationship Id="rId4" Target="../media/image60.png" Type="http://schemas.openxmlformats.org/officeDocument/2006/relationships/image"/><Relationship Id="rId5" Target="../media/image61.png" Type="http://schemas.openxmlformats.org/officeDocument/2006/relationships/image"/><Relationship Id="rId6" Target="../media/image62.png" Type="http://schemas.openxmlformats.org/officeDocument/2006/relationships/image"/><Relationship Id="rId7" Target="../media/image63.png" Type="http://schemas.openxmlformats.org/officeDocument/2006/relationships/image"/><Relationship Id="rId8" Target="../media/image64.png" Type="http://schemas.openxmlformats.org/officeDocument/2006/relationships/image"/><Relationship Id="rId9" Target="../media/image6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6.png" Type="http://schemas.openxmlformats.org/officeDocument/2006/relationships/image"/><Relationship Id="rId3" Target="../media/image67.png" Type="http://schemas.openxmlformats.org/officeDocument/2006/relationships/image"/><Relationship Id="rId4" Target="../media/image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8.png" Type="http://schemas.openxmlformats.org/officeDocument/2006/relationships/image"/><Relationship Id="rId3" Target="../media/image1.png" Type="http://schemas.openxmlformats.org/officeDocument/2006/relationships/image"/><Relationship Id="rId4" Target="../media/image6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0.png" Type="http://schemas.openxmlformats.org/officeDocument/2006/relationships/image"/><Relationship Id="rId3" Target="../media/image71.svg" Type="http://schemas.openxmlformats.org/officeDocument/2006/relationships/image"/><Relationship Id="rId4" Target="../media/image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494184" y="496877"/>
            <a:ext cx="3765116" cy="1063645"/>
          </a:xfrm>
          <a:custGeom>
            <a:avLst/>
            <a:gdLst/>
            <a:ahLst/>
            <a:cxnLst/>
            <a:rect r="r" b="b" t="t" l="l"/>
            <a:pathLst>
              <a:path h="1063645" w="3765116">
                <a:moveTo>
                  <a:pt x="0" y="0"/>
                </a:moveTo>
                <a:lnTo>
                  <a:pt x="3765116" y="0"/>
                </a:lnTo>
                <a:lnTo>
                  <a:pt x="3765116" y="1063646"/>
                </a:lnTo>
                <a:lnTo>
                  <a:pt x="0" y="1063646"/>
                </a:lnTo>
                <a:lnTo>
                  <a:pt x="0" y="0"/>
                </a:lnTo>
                <a:close/>
              </a:path>
            </a:pathLst>
          </a:custGeom>
          <a:blipFill>
            <a:blip r:embed="rId2"/>
            <a:stretch>
              <a:fillRect l="0" t="0" r="0" b="0"/>
            </a:stretch>
          </a:blipFill>
        </p:spPr>
      </p:sp>
      <p:sp>
        <p:nvSpPr>
          <p:cNvPr name="TextBox 3" id="3"/>
          <p:cNvSpPr txBox="true"/>
          <p:nvPr/>
        </p:nvSpPr>
        <p:spPr>
          <a:xfrm rot="0">
            <a:off x="2297161" y="1649900"/>
            <a:ext cx="13553718" cy="2522360"/>
          </a:xfrm>
          <a:prstGeom prst="rect">
            <a:avLst/>
          </a:prstGeom>
        </p:spPr>
        <p:txBody>
          <a:bodyPr anchor="t" rtlCol="false" tIns="0" lIns="0" bIns="0" rIns="0">
            <a:spAutoFit/>
          </a:bodyPr>
          <a:lstStyle/>
          <a:p>
            <a:pPr algn="ctr">
              <a:lnSpc>
                <a:spcPts val="4822"/>
              </a:lnSpc>
              <a:spcBef>
                <a:spcPct val="0"/>
              </a:spcBef>
            </a:pPr>
            <a:r>
              <a:rPr lang="en-US" sz="3444">
                <a:solidFill>
                  <a:srgbClr val="000000"/>
                </a:solidFill>
                <a:latin typeface="Times New Roman MT"/>
                <a:ea typeface="Times New Roman MT"/>
                <a:cs typeface="Times New Roman MT"/>
                <a:sym typeface="Times New Roman MT"/>
              </a:rPr>
              <a:t>Design a differential amplifier </a:t>
            </a:r>
            <a:r>
              <a:rPr lang="en-US" sz="3444">
                <a:solidFill>
                  <a:srgbClr val="000000"/>
                </a:solidFill>
                <a:latin typeface="Times New Roman MT"/>
                <a:ea typeface="Times New Roman MT"/>
                <a:cs typeface="Times New Roman MT"/>
                <a:sym typeface="Times New Roman MT"/>
              </a:rPr>
              <a:t>operating on a lower supply voltage of</a:t>
            </a:r>
          </a:p>
          <a:p>
            <a:pPr algn="ctr">
              <a:lnSpc>
                <a:spcPts val="5040"/>
              </a:lnSpc>
              <a:spcBef>
                <a:spcPct val="0"/>
              </a:spcBef>
            </a:pPr>
            <a:r>
              <a:rPr lang="en-US" sz="3600">
                <a:solidFill>
                  <a:srgbClr val="000000"/>
                </a:solidFill>
                <a:latin typeface="Times New Roman MT"/>
                <a:ea typeface="Times New Roman MT"/>
                <a:cs typeface="Times New Roman MT"/>
                <a:sym typeface="Times New Roman MT"/>
              </a:rPr>
              <a:t>1.8 V, utilizing a wide-swing (high-compliance) cascode current mirror</a:t>
            </a:r>
          </a:p>
          <a:p>
            <a:pPr algn="ctr">
              <a:lnSpc>
                <a:spcPts val="4822"/>
              </a:lnSpc>
              <a:spcBef>
                <a:spcPct val="0"/>
              </a:spcBef>
            </a:pPr>
            <a:r>
              <a:rPr lang="en-US" sz="3444">
                <a:solidFill>
                  <a:srgbClr val="000000"/>
                </a:solidFill>
                <a:latin typeface="Times New Roman MT"/>
                <a:ea typeface="Times New Roman MT"/>
                <a:cs typeface="Times New Roman MT"/>
                <a:sym typeface="Times New Roman MT"/>
              </a:rPr>
              <a:t>load. Analyze the trade-offs made to maximize the output voltage swing</a:t>
            </a:r>
          </a:p>
          <a:p>
            <a:pPr algn="ctr">
              <a:lnSpc>
                <a:spcPts val="4822"/>
              </a:lnSpc>
              <a:spcBef>
                <a:spcPct val="0"/>
              </a:spcBef>
            </a:pPr>
            <a:r>
              <a:rPr lang="en-US" sz="3444">
                <a:solidFill>
                  <a:srgbClr val="000000"/>
                </a:solidFill>
                <a:latin typeface="Times New Roman MT"/>
                <a:ea typeface="Times New Roman MT"/>
                <a:cs typeface="Times New Roman MT"/>
                <a:sym typeface="Times New Roman MT"/>
              </a:rPr>
              <a:t>while maintaining a minimum voltage gain of 40 dB</a:t>
            </a:r>
          </a:p>
        </p:txBody>
      </p:sp>
      <p:sp>
        <p:nvSpPr>
          <p:cNvPr name="TextBox 4" id="4"/>
          <p:cNvSpPr txBox="true"/>
          <p:nvPr/>
        </p:nvSpPr>
        <p:spPr>
          <a:xfrm rot="0">
            <a:off x="8329404" y="6888288"/>
            <a:ext cx="1489234" cy="512445"/>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Times New Roman MT"/>
                <a:ea typeface="Times New Roman MT"/>
                <a:cs typeface="Times New Roman MT"/>
                <a:sym typeface="Times New Roman MT"/>
              </a:rPr>
              <a:t>MANISH</a:t>
            </a:r>
          </a:p>
        </p:txBody>
      </p:sp>
      <p:sp>
        <p:nvSpPr>
          <p:cNvPr name="TextBox 5" id="5"/>
          <p:cNvSpPr txBox="true"/>
          <p:nvPr/>
        </p:nvSpPr>
        <p:spPr>
          <a:xfrm rot="0">
            <a:off x="7231766" y="4932997"/>
            <a:ext cx="3684508" cy="377825"/>
          </a:xfrm>
          <a:prstGeom prst="rect">
            <a:avLst/>
          </a:prstGeom>
        </p:spPr>
        <p:txBody>
          <a:bodyPr anchor="t" rtlCol="false" tIns="0" lIns="0" bIns="0" rIns="0">
            <a:spAutoFit/>
          </a:bodyPr>
          <a:lstStyle/>
          <a:p>
            <a:pPr algn="ctr">
              <a:lnSpc>
                <a:spcPts val="2799"/>
              </a:lnSpc>
              <a:spcBef>
                <a:spcPct val="0"/>
              </a:spcBef>
            </a:pPr>
            <a:r>
              <a:rPr lang="en-US" b="true" sz="1999">
                <a:solidFill>
                  <a:srgbClr val="000000"/>
                </a:solidFill>
                <a:latin typeface="Times New Roman MT Bold"/>
                <a:ea typeface="Times New Roman MT Bold"/>
                <a:cs typeface="Times New Roman MT Bold"/>
                <a:sym typeface="Times New Roman MT Bold"/>
              </a:rPr>
              <a:t>ANALOG</a:t>
            </a:r>
            <a:r>
              <a:rPr lang="en-US" b="true" sz="1999">
                <a:solidFill>
                  <a:srgbClr val="000000"/>
                </a:solidFill>
                <a:latin typeface="Times New Roman MT Bold"/>
                <a:ea typeface="Times New Roman MT Bold"/>
                <a:cs typeface="Times New Roman MT Bold"/>
                <a:sym typeface="Times New Roman MT Bold"/>
              </a:rPr>
              <a:t> IC Design-Mini Project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1291901"/>
            <a:ext cx="2793444" cy="647066"/>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MT Bold"/>
                <a:ea typeface="Times New Roman MT Bold"/>
                <a:cs typeface="Times New Roman MT Bold"/>
                <a:sym typeface="Times New Roman MT Bold"/>
              </a:rPr>
              <a:t>OBJECTIVES</a:t>
            </a:r>
          </a:p>
        </p:txBody>
      </p:sp>
      <p:sp>
        <p:nvSpPr>
          <p:cNvPr name="TextBox 3" id="3"/>
          <p:cNvSpPr txBox="true"/>
          <p:nvPr/>
        </p:nvSpPr>
        <p:spPr>
          <a:xfrm rot="0">
            <a:off x="344401" y="3586223"/>
            <a:ext cx="9237428" cy="3317446"/>
          </a:xfrm>
          <a:prstGeom prst="rect">
            <a:avLst/>
          </a:prstGeom>
        </p:spPr>
        <p:txBody>
          <a:bodyPr anchor="t" rtlCol="false" tIns="0" lIns="0" bIns="0" rIns="0">
            <a:spAutoFit/>
          </a:bodyPr>
          <a:lstStyle/>
          <a:p>
            <a:pPr algn="just" marL="573658" indent="-286829" lvl="1">
              <a:lnSpc>
                <a:spcPts val="3719"/>
              </a:lnSpc>
              <a:buFont typeface="Arial"/>
              <a:buChar char="•"/>
            </a:pPr>
            <a:r>
              <a:rPr lang="en-US" sz="2657">
                <a:solidFill>
                  <a:srgbClr val="000000"/>
                </a:solidFill>
                <a:latin typeface="Times New Roman MT"/>
                <a:ea typeface="Times New Roman MT"/>
                <a:cs typeface="Times New Roman MT"/>
                <a:sym typeface="Times New Roman MT"/>
              </a:rPr>
              <a:t>Design a differential amplifier operating on a lower supply voltage of 1.8 V.</a:t>
            </a:r>
          </a:p>
          <a:p>
            <a:pPr algn="just" marL="573658" indent="-286829" lvl="1">
              <a:lnSpc>
                <a:spcPts val="3719"/>
              </a:lnSpc>
              <a:buFont typeface="Arial"/>
              <a:buChar char="•"/>
            </a:pPr>
            <a:r>
              <a:rPr lang="en-US" sz="2657">
                <a:solidFill>
                  <a:srgbClr val="000000"/>
                </a:solidFill>
                <a:latin typeface="Times New Roman MT"/>
                <a:ea typeface="Times New Roman MT"/>
                <a:cs typeface="Times New Roman MT"/>
                <a:sym typeface="Times New Roman MT"/>
              </a:rPr>
              <a:t>With a wide-swing cascode current mirror as load.</a:t>
            </a:r>
          </a:p>
          <a:p>
            <a:pPr algn="just" marL="573658" indent="-286829" lvl="1">
              <a:lnSpc>
                <a:spcPts val="3719"/>
              </a:lnSpc>
              <a:buFont typeface="Arial"/>
              <a:buChar char="•"/>
            </a:pPr>
            <a:r>
              <a:rPr lang="en-US" sz="2657">
                <a:solidFill>
                  <a:srgbClr val="000000"/>
                </a:solidFill>
                <a:latin typeface="Times New Roman MT"/>
                <a:ea typeface="Times New Roman MT"/>
                <a:cs typeface="Times New Roman MT"/>
                <a:sym typeface="Times New Roman MT"/>
              </a:rPr>
              <a:t>Maintaining a minimum voltage gain of 40 dB.</a:t>
            </a:r>
          </a:p>
          <a:p>
            <a:pPr algn="just" marL="573658" indent="-286829" lvl="1">
              <a:lnSpc>
                <a:spcPts val="3719"/>
              </a:lnSpc>
              <a:buFont typeface="Arial"/>
              <a:buChar char="•"/>
            </a:pPr>
            <a:r>
              <a:rPr lang="en-US" sz="2657">
                <a:solidFill>
                  <a:srgbClr val="000000"/>
                </a:solidFill>
                <a:latin typeface="Times New Roman MT"/>
                <a:ea typeface="Times New Roman MT"/>
                <a:cs typeface="Times New Roman MT"/>
                <a:sym typeface="Times New Roman MT"/>
              </a:rPr>
              <a:t>Analyzing the trade-of made to maximize the output voltage swing.</a:t>
            </a:r>
          </a:p>
          <a:p>
            <a:pPr algn="just" marL="573658" indent="-286829" lvl="1">
              <a:lnSpc>
                <a:spcPts val="3719"/>
              </a:lnSpc>
              <a:buFont typeface="Arial"/>
              <a:buChar char="•"/>
            </a:pPr>
            <a:r>
              <a:rPr lang="en-US" sz="2657">
                <a:solidFill>
                  <a:srgbClr val="000000"/>
                </a:solidFill>
                <a:latin typeface="Times New Roman MT"/>
                <a:ea typeface="Times New Roman MT"/>
                <a:cs typeface="Times New Roman MT"/>
                <a:sym typeface="Times New Roman MT"/>
              </a:rPr>
              <a:t>Maintaining all Transistor in saturation mode.</a:t>
            </a:r>
          </a:p>
        </p:txBody>
      </p:sp>
      <p:sp>
        <p:nvSpPr>
          <p:cNvPr name="TextBox 4" id="4"/>
          <p:cNvSpPr txBox="true"/>
          <p:nvPr/>
        </p:nvSpPr>
        <p:spPr>
          <a:xfrm rot="0">
            <a:off x="9970430" y="3619022"/>
            <a:ext cx="8296674" cy="3284647"/>
          </a:xfrm>
          <a:prstGeom prst="rect">
            <a:avLst/>
          </a:prstGeom>
        </p:spPr>
        <p:txBody>
          <a:bodyPr anchor="t" rtlCol="false" tIns="0" lIns="0" bIns="0" rIns="0">
            <a:spAutoFit/>
          </a:bodyPr>
          <a:lstStyle/>
          <a:p>
            <a:pPr algn="just" marL="569490" indent="-284745" lvl="1">
              <a:lnSpc>
                <a:spcPts val="3692"/>
              </a:lnSpc>
              <a:buFont typeface="Arial"/>
              <a:buChar char="•"/>
            </a:pPr>
            <a:r>
              <a:rPr lang="en-US" sz="2637">
                <a:solidFill>
                  <a:srgbClr val="000000"/>
                </a:solidFill>
                <a:latin typeface="Times New Roman MT"/>
                <a:ea typeface="Times New Roman MT"/>
                <a:cs typeface="Times New Roman MT"/>
                <a:sym typeface="Times New Roman MT"/>
              </a:rPr>
              <a:t> Standard cascode mirrors consume high voltage headroom (Vth+2Vov), limiting overall dynamic range.</a:t>
            </a:r>
          </a:p>
          <a:p>
            <a:pPr algn="just" marL="569490" indent="-284745" lvl="1">
              <a:lnSpc>
                <a:spcPts val="3692"/>
              </a:lnSpc>
              <a:buFont typeface="Arial"/>
              <a:buChar char="•"/>
            </a:pPr>
            <a:r>
              <a:rPr lang="en-US" sz="2637">
                <a:solidFill>
                  <a:srgbClr val="000000"/>
                </a:solidFill>
                <a:latin typeface="Times New Roman MT"/>
                <a:ea typeface="Times New Roman MT"/>
                <a:cs typeface="Times New Roman MT"/>
                <a:sym typeface="Times New Roman MT"/>
              </a:rPr>
              <a:t>Wide-swing cascode biasing lowers required minimum voltage headroom to just 2Vov.</a:t>
            </a:r>
          </a:p>
          <a:p>
            <a:pPr algn="just" marL="569490" indent="-284745" lvl="1">
              <a:lnSpc>
                <a:spcPts val="3692"/>
              </a:lnSpc>
              <a:buFont typeface="Arial"/>
              <a:buChar char="•"/>
            </a:pPr>
            <a:r>
              <a:rPr lang="en-US" sz="2637">
                <a:solidFill>
                  <a:srgbClr val="000000"/>
                </a:solidFill>
                <a:latin typeface="Times New Roman MT"/>
                <a:ea typeface="Times New Roman MT"/>
                <a:cs typeface="Times New Roman MT"/>
                <a:sym typeface="Times New Roman MT"/>
              </a:rPr>
              <a:t>Maintaining the output current of 10µA.</a:t>
            </a:r>
          </a:p>
          <a:p>
            <a:pPr algn="just">
              <a:lnSpc>
                <a:spcPts val="3692"/>
              </a:lnSpc>
            </a:pPr>
          </a:p>
        </p:txBody>
      </p:sp>
      <p:sp>
        <p:nvSpPr>
          <p:cNvPr name="TextBox 5" id="5"/>
          <p:cNvSpPr txBox="true"/>
          <p:nvPr/>
        </p:nvSpPr>
        <p:spPr>
          <a:xfrm rot="0">
            <a:off x="9970430" y="2597252"/>
            <a:ext cx="2584625" cy="775335"/>
          </a:xfrm>
          <a:prstGeom prst="rect">
            <a:avLst/>
          </a:prstGeom>
        </p:spPr>
        <p:txBody>
          <a:bodyPr anchor="t" rtlCol="false" tIns="0" lIns="0" bIns="0" rIns="0">
            <a:spAutoFit/>
          </a:bodyPr>
          <a:lstStyle/>
          <a:p>
            <a:pPr algn="ctr">
              <a:lnSpc>
                <a:spcPts val="2939"/>
              </a:lnSpc>
              <a:spcBef>
                <a:spcPct val="0"/>
              </a:spcBef>
            </a:pPr>
            <a:r>
              <a:rPr lang="en-US" b="true" sz="2099">
                <a:solidFill>
                  <a:srgbClr val="000000"/>
                </a:solidFill>
                <a:latin typeface="Times New Roman MT Bold"/>
                <a:ea typeface="Times New Roman MT Bold"/>
                <a:cs typeface="Times New Roman MT Bold"/>
                <a:sym typeface="Times New Roman MT Bold"/>
              </a:rPr>
              <a:t>Tec</a:t>
            </a:r>
            <a:r>
              <a:rPr lang="en-US" b="true" sz="2099">
                <a:solidFill>
                  <a:srgbClr val="000000"/>
                </a:solidFill>
                <a:latin typeface="Times New Roman MT Bold"/>
                <a:ea typeface="Times New Roman MT Bold"/>
                <a:cs typeface="Times New Roman MT Bold"/>
                <a:sym typeface="Times New Roman MT Bold"/>
              </a:rPr>
              <a:t>hnical Motivation</a:t>
            </a:r>
          </a:p>
          <a:p>
            <a:pPr algn="ctr">
              <a:lnSpc>
                <a:spcPts val="2939"/>
              </a:lnSpc>
              <a:spcBef>
                <a:spcPct val="0"/>
              </a:spcBef>
            </a:pPr>
          </a:p>
        </p:txBody>
      </p:sp>
      <p:sp>
        <p:nvSpPr>
          <p:cNvPr name="TextBox 6" id="6"/>
          <p:cNvSpPr txBox="true"/>
          <p:nvPr/>
        </p:nvSpPr>
        <p:spPr>
          <a:xfrm rot="0">
            <a:off x="720200" y="2597252"/>
            <a:ext cx="2584625" cy="775335"/>
          </a:xfrm>
          <a:prstGeom prst="rect">
            <a:avLst/>
          </a:prstGeom>
        </p:spPr>
        <p:txBody>
          <a:bodyPr anchor="t" rtlCol="false" tIns="0" lIns="0" bIns="0" rIns="0">
            <a:spAutoFit/>
          </a:bodyPr>
          <a:lstStyle/>
          <a:p>
            <a:pPr algn="ctr">
              <a:lnSpc>
                <a:spcPts val="2939"/>
              </a:lnSpc>
              <a:spcBef>
                <a:spcPct val="0"/>
              </a:spcBef>
            </a:pPr>
            <a:r>
              <a:rPr lang="en-US" b="true" sz="2099">
                <a:solidFill>
                  <a:srgbClr val="000000"/>
                </a:solidFill>
                <a:latin typeface="Times New Roman MT Bold"/>
                <a:ea typeface="Times New Roman MT Bold"/>
                <a:cs typeface="Times New Roman MT Bold"/>
                <a:sym typeface="Times New Roman MT Bold"/>
              </a:rPr>
              <a:t>Pr</a:t>
            </a:r>
            <a:r>
              <a:rPr lang="en-US" b="true" sz="2099">
                <a:solidFill>
                  <a:srgbClr val="000000"/>
                </a:solidFill>
                <a:latin typeface="Times New Roman MT Bold"/>
                <a:ea typeface="Times New Roman MT Bold"/>
                <a:cs typeface="Times New Roman MT Bold"/>
                <a:sym typeface="Times New Roman MT Bold"/>
              </a:rPr>
              <a:t>imary Objectives</a:t>
            </a:r>
          </a:p>
          <a:p>
            <a:pPr algn="ctr">
              <a:lnSpc>
                <a:spcPts val="2939"/>
              </a:lnSpc>
              <a:spcBef>
                <a:spcPct val="0"/>
              </a:spcBef>
            </a:pPr>
          </a:p>
        </p:txBody>
      </p:sp>
      <p:sp>
        <p:nvSpPr>
          <p:cNvPr name="Freeform 7" id="7"/>
          <p:cNvSpPr/>
          <p:nvPr/>
        </p:nvSpPr>
        <p:spPr>
          <a:xfrm flipH="false" flipV="false" rot="0">
            <a:off x="13494184" y="496877"/>
            <a:ext cx="3765116" cy="1063645"/>
          </a:xfrm>
          <a:custGeom>
            <a:avLst/>
            <a:gdLst/>
            <a:ahLst/>
            <a:cxnLst/>
            <a:rect r="r" b="b" t="t" l="l"/>
            <a:pathLst>
              <a:path h="1063645" w="3765116">
                <a:moveTo>
                  <a:pt x="0" y="0"/>
                </a:moveTo>
                <a:lnTo>
                  <a:pt x="3765116" y="0"/>
                </a:lnTo>
                <a:lnTo>
                  <a:pt x="3765116" y="1063646"/>
                </a:lnTo>
                <a:lnTo>
                  <a:pt x="0" y="1063646"/>
                </a:lnTo>
                <a:lnTo>
                  <a:pt x="0" y="0"/>
                </a:lnTo>
                <a:close/>
              </a:path>
            </a:pathLst>
          </a:custGeom>
          <a:blipFill>
            <a:blip r:embed="rId2"/>
            <a:stretch>
              <a:fillRect l="0" t="0" r="0" b="0"/>
            </a:stretch>
          </a:blipFill>
        </p:spPr>
      </p:sp>
    </p:spTree>
  </p:cSld>
  <p:clrMapOvr>
    <a:masterClrMapping/>
  </p:clrMapOvr>
  <p:transition spd="fast">
    <p:push dir="l"/>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2929890"/>
            <a:ext cx="17259300" cy="4798695"/>
          </a:xfrm>
          <a:prstGeom prst="rect">
            <a:avLst/>
          </a:prstGeom>
        </p:spPr>
        <p:txBody>
          <a:bodyPr anchor="t" rtlCol="false" tIns="0" lIns="0" bIns="0" rIns="0">
            <a:spAutoFit/>
          </a:bodyPr>
          <a:lstStyle/>
          <a:p>
            <a:pPr algn="l" marL="582930" indent="-291465" lvl="1">
              <a:lnSpc>
                <a:spcPts val="3779"/>
              </a:lnSpc>
              <a:buFont typeface="Arial"/>
              <a:buChar char="•"/>
            </a:pPr>
            <a:r>
              <a:rPr lang="en-US" sz="2700">
                <a:solidFill>
                  <a:srgbClr val="000000"/>
                </a:solidFill>
                <a:latin typeface="Times New Roman MT"/>
                <a:ea typeface="Times New Roman MT"/>
                <a:cs typeface="Times New Roman MT"/>
                <a:sym typeface="Times New Roman MT"/>
              </a:rPr>
              <a:t>High DC Voltage Gain</a:t>
            </a:r>
          </a:p>
          <a:p>
            <a:pPr algn="l">
              <a:lnSpc>
                <a:spcPts val="3779"/>
              </a:lnSpc>
              <a:spcBef>
                <a:spcPct val="0"/>
              </a:spcBef>
            </a:pPr>
            <a:r>
              <a:rPr lang="en-US" sz="2700">
                <a:solidFill>
                  <a:srgbClr val="000000"/>
                </a:solidFill>
                <a:latin typeface="Times New Roman MT"/>
                <a:ea typeface="Times New Roman MT"/>
                <a:cs typeface="Times New Roman MT"/>
                <a:sym typeface="Times New Roman MT"/>
              </a:rPr>
              <a:t>Achieves high single-stage gain by utilizing cascode output impedance boosting without needing extra amplifier stages.</a:t>
            </a:r>
          </a:p>
          <a:p>
            <a:pPr algn="l">
              <a:lnSpc>
                <a:spcPts val="3779"/>
              </a:lnSpc>
              <a:spcBef>
                <a:spcPct val="0"/>
              </a:spcBef>
            </a:pPr>
          </a:p>
          <a:p>
            <a:pPr algn="l" marL="582930" indent="-291465" lvl="1">
              <a:lnSpc>
                <a:spcPts val="3779"/>
              </a:lnSpc>
              <a:buFont typeface="Arial"/>
              <a:buChar char="•"/>
            </a:pPr>
            <a:r>
              <a:rPr lang="en-US" sz="2700">
                <a:solidFill>
                  <a:srgbClr val="000000"/>
                </a:solidFill>
                <a:latin typeface="Times New Roman MT"/>
                <a:ea typeface="Times New Roman MT"/>
                <a:cs typeface="Times New Roman MT"/>
                <a:sym typeface="Times New Roman MT"/>
              </a:rPr>
              <a:t>Wide Output Swing</a:t>
            </a:r>
          </a:p>
          <a:p>
            <a:pPr algn="l">
              <a:lnSpc>
                <a:spcPts val="3779"/>
              </a:lnSpc>
              <a:spcBef>
                <a:spcPct val="0"/>
              </a:spcBef>
            </a:pPr>
            <a:r>
              <a:rPr lang="en-US" sz="2700">
                <a:solidFill>
                  <a:srgbClr val="000000"/>
                </a:solidFill>
                <a:latin typeface="Times New Roman MT"/>
                <a:ea typeface="Times New Roman MT"/>
                <a:cs typeface="Times New Roman MT"/>
                <a:sym typeface="Times New Roman MT"/>
              </a:rPr>
              <a:t>Wide-swing active load enables maximum output dynamic range, bounded by minimum compliance headroom of above ground.</a:t>
            </a:r>
          </a:p>
          <a:p>
            <a:pPr algn="l">
              <a:lnSpc>
                <a:spcPts val="3779"/>
              </a:lnSpc>
              <a:spcBef>
                <a:spcPct val="0"/>
              </a:spcBef>
            </a:pPr>
          </a:p>
          <a:p>
            <a:pPr algn="l" marL="582930" indent="-291465" lvl="1">
              <a:lnSpc>
                <a:spcPts val="3779"/>
              </a:lnSpc>
              <a:buFont typeface="Arial"/>
              <a:buChar char="•"/>
            </a:pPr>
            <a:r>
              <a:rPr lang="en-US" sz="2700">
                <a:solidFill>
                  <a:srgbClr val="000000"/>
                </a:solidFill>
                <a:latin typeface="Times New Roman MT"/>
                <a:ea typeface="Times New Roman MT"/>
                <a:cs typeface="Times New Roman MT"/>
                <a:sym typeface="Times New Roman MT"/>
              </a:rPr>
              <a:t> Noise &amp; CMRR</a:t>
            </a:r>
          </a:p>
          <a:p>
            <a:pPr algn="l">
              <a:lnSpc>
                <a:spcPts val="3779"/>
              </a:lnSpc>
              <a:spcBef>
                <a:spcPct val="0"/>
              </a:spcBef>
            </a:pPr>
            <a:r>
              <a:rPr lang="en-US" sz="2700">
                <a:solidFill>
                  <a:srgbClr val="000000"/>
                </a:solidFill>
                <a:latin typeface="Times New Roman MT"/>
                <a:ea typeface="Times New Roman MT"/>
                <a:cs typeface="Times New Roman MT"/>
                <a:sym typeface="Times New Roman MT"/>
              </a:rPr>
              <a:t>PMOS differential input pair provides low noise and high Common-Mode Rejection Ratio (CMRR) against supply fluctuations.</a:t>
            </a:r>
          </a:p>
        </p:txBody>
      </p:sp>
      <p:sp>
        <p:nvSpPr>
          <p:cNvPr name="TextBox 3" id="3"/>
          <p:cNvSpPr txBox="true"/>
          <p:nvPr/>
        </p:nvSpPr>
        <p:spPr>
          <a:xfrm rot="0">
            <a:off x="981727" y="829525"/>
            <a:ext cx="2317671" cy="647066"/>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MT Bold"/>
                <a:ea typeface="Times New Roman MT Bold"/>
                <a:cs typeface="Times New Roman MT Bold"/>
                <a:sym typeface="Times New Roman MT Bold"/>
              </a:rPr>
              <a:t>FEATURES</a:t>
            </a:r>
          </a:p>
        </p:txBody>
      </p:sp>
      <p:sp>
        <p:nvSpPr>
          <p:cNvPr name="Freeform 4" id="4"/>
          <p:cNvSpPr/>
          <p:nvPr/>
        </p:nvSpPr>
        <p:spPr>
          <a:xfrm flipH="false" flipV="false" rot="0">
            <a:off x="13494184" y="496877"/>
            <a:ext cx="3765116" cy="1063645"/>
          </a:xfrm>
          <a:custGeom>
            <a:avLst/>
            <a:gdLst/>
            <a:ahLst/>
            <a:cxnLst/>
            <a:rect r="r" b="b" t="t" l="l"/>
            <a:pathLst>
              <a:path h="1063645" w="3765116">
                <a:moveTo>
                  <a:pt x="0" y="0"/>
                </a:moveTo>
                <a:lnTo>
                  <a:pt x="3765116" y="0"/>
                </a:lnTo>
                <a:lnTo>
                  <a:pt x="3765116" y="1063646"/>
                </a:lnTo>
                <a:lnTo>
                  <a:pt x="0" y="1063646"/>
                </a:lnTo>
                <a:lnTo>
                  <a:pt x="0" y="0"/>
                </a:lnTo>
                <a:close/>
              </a:path>
            </a:pathLst>
          </a:custGeom>
          <a:blipFill>
            <a:blip r:embed="rId2"/>
            <a:stretch>
              <a:fillRect l="0" t="0" r="0" b="0"/>
            </a:stretch>
          </a:blipFill>
        </p:spPr>
      </p:sp>
    </p:spTree>
  </p:cSld>
  <p:clrMapOvr>
    <a:masterClrMapping/>
  </p:clrMapOvr>
  <p:transition spd="fast">
    <p:push dir="l"/>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494184" y="496877"/>
            <a:ext cx="3765116" cy="1063645"/>
          </a:xfrm>
          <a:custGeom>
            <a:avLst/>
            <a:gdLst/>
            <a:ahLst/>
            <a:cxnLst/>
            <a:rect r="r" b="b" t="t" l="l"/>
            <a:pathLst>
              <a:path h="1063645" w="3765116">
                <a:moveTo>
                  <a:pt x="0" y="0"/>
                </a:moveTo>
                <a:lnTo>
                  <a:pt x="3765116" y="0"/>
                </a:lnTo>
                <a:lnTo>
                  <a:pt x="3765116" y="1063646"/>
                </a:lnTo>
                <a:lnTo>
                  <a:pt x="0" y="1063646"/>
                </a:lnTo>
                <a:lnTo>
                  <a:pt x="0" y="0"/>
                </a:lnTo>
                <a:close/>
              </a:path>
            </a:pathLst>
          </a:custGeom>
          <a:blipFill>
            <a:blip r:embed="rId2"/>
            <a:stretch>
              <a:fillRect l="0" t="0" r="0" b="0"/>
            </a:stretch>
          </a:blipFill>
        </p:spPr>
      </p:sp>
      <p:sp>
        <p:nvSpPr>
          <p:cNvPr name="Freeform 3" id="3"/>
          <p:cNvSpPr/>
          <p:nvPr/>
        </p:nvSpPr>
        <p:spPr>
          <a:xfrm flipH="false" flipV="false" rot="0">
            <a:off x="2782927" y="2328081"/>
            <a:ext cx="11558036" cy="5630838"/>
          </a:xfrm>
          <a:custGeom>
            <a:avLst/>
            <a:gdLst/>
            <a:ahLst/>
            <a:cxnLst/>
            <a:rect r="r" b="b" t="t" l="l"/>
            <a:pathLst>
              <a:path h="5630838" w="11558036">
                <a:moveTo>
                  <a:pt x="0" y="0"/>
                </a:moveTo>
                <a:lnTo>
                  <a:pt x="11558036" y="0"/>
                </a:lnTo>
                <a:lnTo>
                  <a:pt x="11558036" y="5630838"/>
                </a:lnTo>
                <a:lnTo>
                  <a:pt x="0" y="5630838"/>
                </a:lnTo>
                <a:lnTo>
                  <a:pt x="0" y="0"/>
                </a:lnTo>
                <a:close/>
              </a:path>
            </a:pathLst>
          </a:custGeom>
          <a:blipFill>
            <a:blip r:embed="rId3"/>
            <a:stretch>
              <a:fillRect l="0" t="0" r="0" b="0"/>
            </a:stretch>
          </a:blipFill>
        </p:spPr>
      </p:sp>
      <p:sp>
        <p:nvSpPr>
          <p:cNvPr name="TextBox 4" id="4"/>
          <p:cNvSpPr txBox="true"/>
          <p:nvPr/>
        </p:nvSpPr>
        <p:spPr>
          <a:xfrm rot="0">
            <a:off x="2370983" y="6349006"/>
            <a:ext cx="1525103" cy="811517"/>
          </a:xfrm>
          <a:prstGeom prst="rect">
            <a:avLst/>
          </a:prstGeom>
        </p:spPr>
        <p:txBody>
          <a:bodyPr anchor="t" rtlCol="false" tIns="0" lIns="0" bIns="0" rIns="0">
            <a:spAutoFit/>
          </a:bodyPr>
          <a:lstStyle/>
          <a:p>
            <a:pPr algn="ctr">
              <a:lnSpc>
                <a:spcPts val="6720"/>
              </a:lnSpc>
            </a:pPr>
            <a:r>
              <a:rPr lang="en-US" sz="4800" b="true">
                <a:solidFill>
                  <a:srgbClr val="000000"/>
                </a:solidFill>
                <a:latin typeface="Canva Sans Bold"/>
                <a:ea typeface="Canva Sans Bold"/>
                <a:cs typeface="Canva Sans Bold"/>
                <a:sym typeface="Canva Sans Bold"/>
              </a:rPr>
              <a:t>Vin1</a:t>
            </a:r>
          </a:p>
        </p:txBody>
      </p:sp>
      <p:sp>
        <p:nvSpPr>
          <p:cNvPr name="TextBox 5" id="5"/>
          <p:cNvSpPr txBox="true"/>
          <p:nvPr/>
        </p:nvSpPr>
        <p:spPr>
          <a:xfrm rot="0">
            <a:off x="14524624" y="6410869"/>
            <a:ext cx="1305520" cy="811517"/>
          </a:xfrm>
          <a:prstGeom prst="rect">
            <a:avLst/>
          </a:prstGeom>
        </p:spPr>
        <p:txBody>
          <a:bodyPr anchor="t" rtlCol="false" tIns="0" lIns="0" bIns="0" rIns="0">
            <a:spAutoFit/>
          </a:bodyPr>
          <a:lstStyle/>
          <a:p>
            <a:pPr algn="ctr">
              <a:lnSpc>
                <a:spcPts val="6720"/>
              </a:lnSpc>
            </a:pPr>
            <a:r>
              <a:rPr lang="en-US" sz="4800" b="true">
                <a:solidFill>
                  <a:srgbClr val="000000"/>
                </a:solidFill>
                <a:latin typeface="Canva Sans Bold"/>
                <a:ea typeface="Canva Sans Bold"/>
                <a:cs typeface="Canva Sans Bold"/>
                <a:sym typeface="Canva Sans Bold"/>
              </a:rPr>
              <a:t>Vin2</a:t>
            </a:r>
          </a:p>
        </p:txBody>
      </p:sp>
      <p:sp>
        <p:nvSpPr>
          <p:cNvPr name="TextBox 6" id="6"/>
          <p:cNvSpPr txBox="true"/>
          <p:nvPr/>
        </p:nvSpPr>
        <p:spPr>
          <a:xfrm rot="0">
            <a:off x="981727" y="829525"/>
            <a:ext cx="2695456" cy="647066"/>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MT Bold"/>
                <a:ea typeface="Times New Roman MT Bold"/>
                <a:cs typeface="Times New Roman MT Bold"/>
                <a:sym typeface="Times New Roman MT Bold"/>
              </a:rPr>
              <a:t>SCHEMATIC</a:t>
            </a:r>
          </a:p>
        </p:txBody>
      </p:sp>
    </p:spTree>
  </p:cSld>
  <p:clrMapOvr>
    <a:masterClrMapping/>
  </p:clrMapOvr>
  <p:transition spd="fast">
    <p:push dir="l"/>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731883" y="1793032"/>
            <a:ext cx="11321263" cy="6700936"/>
          </a:xfrm>
          <a:custGeom>
            <a:avLst/>
            <a:gdLst/>
            <a:ahLst/>
            <a:cxnLst/>
            <a:rect r="r" b="b" t="t" l="l"/>
            <a:pathLst>
              <a:path h="6700936" w="11321263">
                <a:moveTo>
                  <a:pt x="0" y="0"/>
                </a:moveTo>
                <a:lnTo>
                  <a:pt x="11321263" y="0"/>
                </a:lnTo>
                <a:lnTo>
                  <a:pt x="11321263" y="6700936"/>
                </a:lnTo>
                <a:lnTo>
                  <a:pt x="0" y="6700936"/>
                </a:lnTo>
                <a:lnTo>
                  <a:pt x="0" y="0"/>
                </a:lnTo>
                <a:close/>
              </a:path>
            </a:pathLst>
          </a:custGeom>
          <a:blipFill>
            <a:blip r:embed="rId2"/>
            <a:stretch>
              <a:fillRect l="-10641" t="-20733" r="-75402" b="-28379"/>
            </a:stretch>
          </a:blipFill>
        </p:spPr>
      </p:sp>
      <p:sp>
        <p:nvSpPr>
          <p:cNvPr name="Freeform 3" id="3"/>
          <p:cNvSpPr/>
          <p:nvPr/>
        </p:nvSpPr>
        <p:spPr>
          <a:xfrm flipH="false" flipV="false" rot="0">
            <a:off x="13494184" y="496877"/>
            <a:ext cx="3765116" cy="1063645"/>
          </a:xfrm>
          <a:custGeom>
            <a:avLst/>
            <a:gdLst/>
            <a:ahLst/>
            <a:cxnLst/>
            <a:rect r="r" b="b" t="t" l="l"/>
            <a:pathLst>
              <a:path h="1063645" w="3765116">
                <a:moveTo>
                  <a:pt x="0" y="0"/>
                </a:moveTo>
                <a:lnTo>
                  <a:pt x="3765116" y="0"/>
                </a:lnTo>
                <a:lnTo>
                  <a:pt x="3765116" y="1063646"/>
                </a:lnTo>
                <a:lnTo>
                  <a:pt x="0" y="1063646"/>
                </a:lnTo>
                <a:lnTo>
                  <a:pt x="0" y="0"/>
                </a:lnTo>
                <a:close/>
              </a:path>
            </a:pathLst>
          </a:custGeom>
          <a:blipFill>
            <a:blip r:embed="rId3"/>
            <a:stretch>
              <a:fillRect l="0" t="0" r="0" b="0"/>
            </a:stretch>
          </a:blipFill>
        </p:spPr>
      </p:sp>
      <p:sp>
        <p:nvSpPr>
          <p:cNvPr name="TextBox 4" id="4"/>
          <p:cNvSpPr txBox="true"/>
          <p:nvPr/>
        </p:nvSpPr>
        <p:spPr>
          <a:xfrm rot="0">
            <a:off x="981727" y="829525"/>
            <a:ext cx="2695456" cy="647066"/>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MT Bold"/>
                <a:ea typeface="Times New Roman MT Bold"/>
                <a:cs typeface="Times New Roman MT Bold"/>
                <a:sym typeface="Times New Roman MT Bold"/>
              </a:rPr>
              <a:t>SCHEMATIC</a:t>
            </a:r>
          </a:p>
        </p:txBody>
      </p:sp>
    </p:spTree>
  </p:cSld>
  <p:clrMapOvr>
    <a:masterClrMapping/>
  </p:clrMapOvr>
  <p:transition spd="fast">
    <p:push dir="l"/>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507588" y="8562308"/>
            <a:ext cx="489239" cy="138766"/>
          </a:xfrm>
          <a:custGeom>
            <a:avLst/>
            <a:gdLst/>
            <a:ahLst/>
            <a:cxnLst/>
            <a:rect r="r" b="b" t="t" l="l"/>
            <a:pathLst>
              <a:path h="138766" w="489239">
                <a:moveTo>
                  <a:pt x="0" y="0"/>
                </a:moveTo>
                <a:lnTo>
                  <a:pt x="489239" y="0"/>
                </a:lnTo>
                <a:lnTo>
                  <a:pt x="489239" y="138766"/>
                </a:lnTo>
                <a:lnTo>
                  <a:pt x="0" y="1387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AutoShape 3" id="3"/>
          <p:cNvSpPr/>
          <p:nvPr/>
        </p:nvSpPr>
        <p:spPr>
          <a:xfrm>
            <a:off x="9498144" y="8308688"/>
            <a:ext cx="476068" cy="0"/>
          </a:xfrm>
          <a:prstGeom prst="line">
            <a:avLst/>
          </a:prstGeom>
          <a:ln cap="flat" w="28575">
            <a:solidFill>
              <a:srgbClr val="000000"/>
            </a:solidFill>
            <a:prstDash val="solid"/>
            <a:headEnd type="none" len="sm" w="sm"/>
            <a:tailEnd type="none" len="sm" w="sm"/>
          </a:ln>
        </p:spPr>
      </p:sp>
      <p:sp>
        <p:nvSpPr>
          <p:cNvPr name="AutoShape 4" id="4"/>
          <p:cNvSpPr/>
          <p:nvPr/>
        </p:nvSpPr>
        <p:spPr>
          <a:xfrm flipV="true">
            <a:off x="9498144" y="8203310"/>
            <a:ext cx="0" cy="554619"/>
          </a:xfrm>
          <a:prstGeom prst="line">
            <a:avLst/>
          </a:prstGeom>
          <a:ln cap="flat" w="28575">
            <a:solidFill>
              <a:srgbClr val="000000"/>
            </a:solidFill>
            <a:prstDash val="solid"/>
            <a:headEnd type="none" len="sm" w="sm"/>
            <a:tailEnd type="none" len="sm" w="sm"/>
          </a:ln>
        </p:spPr>
      </p:sp>
      <p:sp>
        <p:nvSpPr>
          <p:cNvPr name="AutoShape 5" id="5"/>
          <p:cNvSpPr/>
          <p:nvPr/>
        </p:nvSpPr>
        <p:spPr>
          <a:xfrm flipV="true">
            <a:off x="9957621" y="7754070"/>
            <a:ext cx="0" cy="554619"/>
          </a:xfrm>
          <a:prstGeom prst="line">
            <a:avLst/>
          </a:prstGeom>
          <a:ln cap="flat" w="28575">
            <a:solidFill>
              <a:srgbClr val="000000"/>
            </a:solidFill>
            <a:prstDash val="solid"/>
            <a:headEnd type="none" len="sm" w="sm"/>
            <a:tailEnd type="none" len="sm" w="sm"/>
          </a:ln>
        </p:spPr>
      </p:sp>
      <p:sp>
        <p:nvSpPr>
          <p:cNvPr name="AutoShape 6" id="6"/>
          <p:cNvSpPr/>
          <p:nvPr/>
        </p:nvSpPr>
        <p:spPr>
          <a:xfrm flipV="true">
            <a:off x="9974211" y="8631691"/>
            <a:ext cx="0" cy="554619"/>
          </a:xfrm>
          <a:prstGeom prst="line">
            <a:avLst/>
          </a:prstGeom>
          <a:ln cap="flat" w="28575">
            <a:solidFill>
              <a:srgbClr val="000000"/>
            </a:solidFill>
            <a:prstDash val="solid"/>
            <a:headEnd type="none" len="sm" w="sm"/>
            <a:tailEnd type="none" len="sm" w="sm"/>
          </a:ln>
        </p:spPr>
      </p:sp>
      <p:sp>
        <p:nvSpPr>
          <p:cNvPr name="AutoShape 7" id="7"/>
          <p:cNvSpPr/>
          <p:nvPr/>
        </p:nvSpPr>
        <p:spPr>
          <a:xfrm flipH="true">
            <a:off x="8949462" y="8476163"/>
            <a:ext cx="554619" cy="0"/>
          </a:xfrm>
          <a:prstGeom prst="line">
            <a:avLst/>
          </a:prstGeom>
          <a:ln cap="flat" w="28575">
            <a:solidFill>
              <a:srgbClr val="000000"/>
            </a:solidFill>
            <a:prstDash val="solid"/>
            <a:headEnd type="none" len="sm" w="sm"/>
            <a:tailEnd type="none" len="sm" w="sm"/>
          </a:ln>
        </p:spPr>
      </p:sp>
      <p:sp>
        <p:nvSpPr>
          <p:cNvPr name="TextBox 8" id="8"/>
          <p:cNvSpPr txBox="true"/>
          <p:nvPr/>
        </p:nvSpPr>
        <p:spPr>
          <a:xfrm rot="0">
            <a:off x="8949462" y="8254985"/>
            <a:ext cx="142106" cy="221178"/>
          </a:xfrm>
          <a:prstGeom prst="rect">
            <a:avLst/>
          </a:prstGeom>
        </p:spPr>
        <p:txBody>
          <a:bodyPr anchor="t" rtlCol="false" tIns="0" lIns="0" bIns="0" rIns="0">
            <a:spAutoFit/>
          </a:bodyPr>
          <a:lstStyle/>
          <a:p>
            <a:pPr algn="ctr">
              <a:lnSpc>
                <a:spcPts val="1889"/>
              </a:lnSpc>
              <a:spcBef>
                <a:spcPct val="0"/>
              </a:spcBef>
            </a:pPr>
            <a:r>
              <a:rPr lang="en-US" sz="1349">
                <a:solidFill>
                  <a:srgbClr val="000000"/>
                </a:solidFill>
                <a:latin typeface="League Spartan"/>
                <a:ea typeface="League Spartan"/>
                <a:cs typeface="League Spartan"/>
                <a:sym typeface="League Spartan"/>
              </a:rPr>
              <a:t>G</a:t>
            </a:r>
          </a:p>
        </p:txBody>
      </p:sp>
      <p:sp>
        <p:nvSpPr>
          <p:cNvPr name="Freeform 9" id="9"/>
          <p:cNvSpPr/>
          <p:nvPr/>
        </p:nvSpPr>
        <p:spPr>
          <a:xfrm flipH="false" flipV="false" rot="-10800000">
            <a:off x="5699857" y="6669823"/>
            <a:ext cx="487098" cy="138159"/>
          </a:xfrm>
          <a:custGeom>
            <a:avLst/>
            <a:gdLst/>
            <a:ahLst/>
            <a:cxnLst/>
            <a:rect r="r" b="b" t="t" l="l"/>
            <a:pathLst>
              <a:path h="138159" w="487098">
                <a:moveTo>
                  <a:pt x="0" y="0"/>
                </a:moveTo>
                <a:lnTo>
                  <a:pt x="487097" y="0"/>
                </a:lnTo>
                <a:lnTo>
                  <a:pt x="487097" y="138159"/>
                </a:lnTo>
                <a:lnTo>
                  <a:pt x="0" y="1381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AutoShape 10" id="10"/>
          <p:cNvSpPr/>
          <p:nvPr/>
        </p:nvSpPr>
        <p:spPr>
          <a:xfrm>
            <a:off x="5708138" y="6410598"/>
            <a:ext cx="473984" cy="0"/>
          </a:xfrm>
          <a:prstGeom prst="line">
            <a:avLst/>
          </a:prstGeom>
          <a:ln cap="flat" w="28575">
            <a:solidFill>
              <a:srgbClr val="000000"/>
            </a:solidFill>
            <a:prstDash val="solid"/>
            <a:headEnd type="none" len="sm" w="sm"/>
            <a:tailEnd type="none" len="sm" w="sm"/>
          </a:ln>
        </p:spPr>
      </p:sp>
      <p:sp>
        <p:nvSpPr>
          <p:cNvPr name="AutoShape 11" id="11"/>
          <p:cNvSpPr/>
          <p:nvPr/>
        </p:nvSpPr>
        <p:spPr>
          <a:xfrm flipV="true">
            <a:off x="6190403" y="6303732"/>
            <a:ext cx="0" cy="552191"/>
          </a:xfrm>
          <a:prstGeom prst="line">
            <a:avLst/>
          </a:prstGeom>
          <a:ln cap="flat" w="28575">
            <a:solidFill>
              <a:srgbClr val="000000"/>
            </a:solidFill>
            <a:prstDash val="solid"/>
            <a:headEnd type="none" len="sm" w="sm"/>
            <a:tailEnd type="none" len="sm" w="sm"/>
          </a:ln>
        </p:spPr>
      </p:sp>
      <p:sp>
        <p:nvSpPr>
          <p:cNvPr name="AutoShape 12" id="12"/>
          <p:cNvSpPr/>
          <p:nvPr/>
        </p:nvSpPr>
        <p:spPr>
          <a:xfrm flipV="true">
            <a:off x="5720671" y="5874463"/>
            <a:ext cx="0" cy="552191"/>
          </a:xfrm>
          <a:prstGeom prst="line">
            <a:avLst/>
          </a:prstGeom>
          <a:ln cap="flat" w="28575">
            <a:solidFill>
              <a:srgbClr val="000000"/>
            </a:solidFill>
            <a:prstDash val="solid"/>
            <a:headEnd type="none" len="sm" w="sm"/>
            <a:tailEnd type="none" len="sm" w="sm"/>
          </a:ln>
        </p:spPr>
      </p:sp>
      <p:sp>
        <p:nvSpPr>
          <p:cNvPr name="AutoShape 13" id="13"/>
          <p:cNvSpPr/>
          <p:nvPr/>
        </p:nvSpPr>
        <p:spPr>
          <a:xfrm flipV="true">
            <a:off x="5720671" y="6738902"/>
            <a:ext cx="0" cy="552191"/>
          </a:xfrm>
          <a:prstGeom prst="line">
            <a:avLst/>
          </a:prstGeom>
          <a:ln cap="flat" w="28575">
            <a:solidFill>
              <a:srgbClr val="000000"/>
            </a:solidFill>
            <a:prstDash val="solid"/>
            <a:headEnd type="none" len="sm" w="sm"/>
            <a:tailEnd type="none" len="sm" w="sm"/>
          </a:ln>
        </p:spPr>
      </p:sp>
      <p:sp>
        <p:nvSpPr>
          <p:cNvPr name="AutoShape 14" id="14"/>
          <p:cNvSpPr/>
          <p:nvPr/>
        </p:nvSpPr>
        <p:spPr>
          <a:xfrm flipH="true" flipV="true">
            <a:off x="6190403" y="6579828"/>
            <a:ext cx="552191" cy="0"/>
          </a:xfrm>
          <a:prstGeom prst="line">
            <a:avLst/>
          </a:prstGeom>
          <a:ln cap="flat" w="28575">
            <a:solidFill>
              <a:srgbClr val="000000"/>
            </a:solidFill>
            <a:prstDash val="solid"/>
            <a:headEnd type="none" len="sm" w="sm"/>
            <a:tailEnd type="none" len="sm" w="sm"/>
          </a:ln>
        </p:spPr>
      </p:sp>
      <p:sp>
        <p:nvSpPr>
          <p:cNvPr name="TextBox 15" id="15"/>
          <p:cNvSpPr txBox="true"/>
          <p:nvPr/>
        </p:nvSpPr>
        <p:spPr>
          <a:xfrm rot="0">
            <a:off x="6601109" y="6359534"/>
            <a:ext cx="141484" cy="220293"/>
          </a:xfrm>
          <a:prstGeom prst="rect">
            <a:avLst/>
          </a:prstGeom>
        </p:spPr>
        <p:txBody>
          <a:bodyPr anchor="t" rtlCol="false" tIns="0" lIns="0" bIns="0" rIns="0">
            <a:spAutoFit/>
          </a:bodyPr>
          <a:lstStyle/>
          <a:p>
            <a:pPr algn="ctr">
              <a:lnSpc>
                <a:spcPts val="1881"/>
              </a:lnSpc>
              <a:spcBef>
                <a:spcPct val="0"/>
              </a:spcBef>
            </a:pPr>
            <a:r>
              <a:rPr lang="en-US" sz="1343">
                <a:solidFill>
                  <a:srgbClr val="000000"/>
                </a:solidFill>
                <a:latin typeface="League Spartan"/>
                <a:ea typeface="League Spartan"/>
                <a:cs typeface="League Spartan"/>
                <a:sym typeface="League Spartan"/>
              </a:rPr>
              <a:t>G</a:t>
            </a:r>
          </a:p>
        </p:txBody>
      </p:sp>
      <p:sp>
        <p:nvSpPr>
          <p:cNvPr name="Freeform 16" id="16"/>
          <p:cNvSpPr/>
          <p:nvPr/>
        </p:nvSpPr>
        <p:spPr>
          <a:xfrm flipH="false" flipV="false" rot="0">
            <a:off x="9490222" y="6673542"/>
            <a:ext cx="489239" cy="138766"/>
          </a:xfrm>
          <a:custGeom>
            <a:avLst/>
            <a:gdLst/>
            <a:ahLst/>
            <a:cxnLst/>
            <a:rect r="r" b="b" t="t" l="l"/>
            <a:pathLst>
              <a:path h="138766" w="489239">
                <a:moveTo>
                  <a:pt x="0" y="0"/>
                </a:moveTo>
                <a:lnTo>
                  <a:pt x="489239" y="0"/>
                </a:lnTo>
                <a:lnTo>
                  <a:pt x="489239" y="138766"/>
                </a:lnTo>
                <a:lnTo>
                  <a:pt x="0" y="1387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AutoShape 17" id="17"/>
          <p:cNvSpPr/>
          <p:nvPr/>
        </p:nvSpPr>
        <p:spPr>
          <a:xfrm>
            <a:off x="9480777" y="6419922"/>
            <a:ext cx="476068" cy="0"/>
          </a:xfrm>
          <a:prstGeom prst="line">
            <a:avLst/>
          </a:prstGeom>
          <a:ln cap="flat" w="28575">
            <a:solidFill>
              <a:srgbClr val="000000"/>
            </a:solidFill>
            <a:prstDash val="solid"/>
            <a:headEnd type="none" len="sm" w="sm"/>
            <a:tailEnd type="none" len="sm" w="sm"/>
          </a:ln>
        </p:spPr>
      </p:sp>
      <p:sp>
        <p:nvSpPr>
          <p:cNvPr name="AutoShape 18" id="18"/>
          <p:cNvSpPr/>
          <p:nvPr/>
        </p:nvSpPr>
        <p:spPr>
          <a:xfrm flipV="true">
            <a:off x="9480777" y="6314544"/>
            <a:ext cx="0" cy="554619"/>
          </a:xfrm>
          <a:prstGeom prst="line">
            <a:avLst/>
          </a:prstGeom>
          <a:ln cap="flat" w="28575">
            <a:solidFill>
              <a:srgbClr val="000000"/>
            </a:solidFill>
            <a:prstDash val="solid"/>
            <a:headEnd type="none" len="sm" w="sm"/>
            <a:tailEnd type="none" len="sm" w="sm"/>
          </a:ln>
        </p:spPr>
      </p:sp>
      <p:sp>
        <p:nvSpPr>
          <p:cNvPr name="AutoShape 19" id="19"/>
          <p:cNvSpPr/>
          <p:nvPr/>
        </p:nvSpPr>
        <p:spPr>
          <a:xfrm flipV="true">
            <a:off x="9940255" y="5865304"/>
            <a:ext cx="0" cy="554619"/>
          </a:xfrm>
          <a:prstGeom prst="line">
            <a:avLst/>
          </a:prstGeom>
          <a:ln cap="flat" w="28575">
            <a:solidFill>
              <a:srgbClr val="000000"/>
            </a:solidFill>
            <a:prstDash val="solid"/>
            <a:headEnd type="none" len="sm" w="sm"/>
            <a:tailEnd type="none" len="sm" w="sm"/>
          </a:ln>
        </p:spPr>
      </p:sp>
      <p:sp>
        <p:nvSpPr>
          <p:cNvPr name="AutoShape 20" id="20"/>
          <p:cNvSpPr/>
          <p:nvPr/>
        </p:nvSpPr>
        <p:spPr>
          <a:xfrm flipV="true">
            <a:off x="9956845" y="6742925"/>
            <a:ext cx="0" cy="554619"/>
          </a:xfrm>
          <a:prstGeom prst="line">
            <a:avLst/>
          </a:prstGeom>
          <a:ln cap="flat" w="28575">
            <a:solidFill>
              <a:srgbClr val="000000"/>
            </a:solidFill>
            <a:prstDash val="solid"/>
            <a:headEnd type="none" len="sm" w="sm"/>
            <a:tailEnd type="none" len="sm" w="sm"/>
          </a:ln>
        </p:spPr>
      </p:sp>
      <p:sp>
        <p:nvSpPr>
          <p:cNvPr name="AutoShape 21" id="21"/>
          <p:cNvSpPr/>
          <p:nvPr/>
        </p:nvSpPr>
        <p:spPr>
          <a:xfrm flipH="true">
            <a:off x="8932096" y="6587397"/>
            <a:ext cx="554619" cy="0"/>
          </a:xfrm>
          <a:prstGeom prst="line">
            <a:avLst/>
          </a:prstGeom>
          <a:ln cap="flat" w="28575">
            <a:solidFill>
              <a:srgbClr val="000000"/>
            </a:solidFill>
            <a:prstDash val="solid"/>
            <a:headEnd type="none" len="sm" w="sm"/>
            <a:tailEnd type="none" len="sm" w="sm"/>
          </a:ln>
        </p:spPr>
      </p:sp>
      <p:sp>
        <p:nvSpPr>
          <p:cNvPr name="TextBox 22" id="22"/>
          <p:cNvSpPr txBox="true"/>
          <p:nvPr/>
        </p:nvSpPr>
        <p:spPr>
          <a:xfrm rot="0">
            <a:off x="8932096" y="6366219"/>
            <a:ext cx="142106" cy="221178"/>
          </a:xfrm>
          <a:prstGeom prst="rect">
            <a:avLst/>
          </a:prstGeom>
        </p:spPr>
        <p:txBody>
          <a:bodyPr anchor="t" rtlCol="false" tIns="0" lIns="0" bIns="0" rIns="0">
            <a:spAutoFit/>
          </a:bodyPr>
          <a:lstStyle/>
          <a:p>
            <a:pPr algn="ctr">
              <a:lnSpc>
                <a:spcPts val="1889"/>
              </a:lnSpc>
              <a:spcBef>
                <a:spcPct val="0"/>
              </a:spcBef>
            </a:pPr>
            <a:r>
              <a:rPr lang="en-US" sz="1349">
                <a:solidFill>
                  <a:srgbClr val="000000"/>
                </a:solidFill>
                <a:latin typeface="League Spartan"/>
                <a:ea typeface="League Spartan"/>
                <a:cs typeface="League Spartan"/>
                <a:sym typeface="League Spartan"/>
              </a:rPr>
              <a:t>G</a:t>
            </a:r>
          </a:p>
        </p:txBody>
      </p:sp>
      <p:sp>
        <p:nvSpPr>
          <p:cNvPr name="Freeform 23" id="23"/>
          <p:cNvSpPr/>
          <p:nvPr/>
        </p:nvSpPr>
        <p:spPr>
          <a:xfrm flipH="false" flipV="false" rot="0">
            <a:off x="12151044" y="8562308"/>
            <a:ext cx="489239" cy="138766"/>
          </a:xfrm>
          <a:custGeom>
            <a:avLst/>
            <a:gdLst/>
            <a:ahLst/>
            <a:cxnLst/>
            <a:rect r="r" b="b" t="t" l="l"/>
            <a:pathLst>
              <a:path h="138766" w="489239">
                <a:moveTo>
                  <a:pt x="0" y="0"/>
                </a:moveTo>
                <a:lnTo>
                  <a:pt x="489240" y="0"/>
                </a:lnTo>
                <a:lnTo>
                  <a:pt x="489240" y="138766"/>
                </a:lnTo>
                <a:lnTo>
                  <a:pt x="0" y="1387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AutoShape 24" id="24"/>
          <p:cNvSpPr/>
          <p:nvPr/>
        </p:nvSpPr>
        <p:spPr>
          <a:xfrm>
            <a:off x="12141600" y="8308688"/>
            <a:ext cx="476068" cy="0"/>
          </a:xfrm>
          <a:prstGeom prst="line">
            <a:avLst/>
          </a:prstGeom>
          <a:ln cap="flat" w="28575">
            <a:solidFill>
              <a:srgbClr val="000000"/>
            </a:solidFill>
            <a:prstDash val="solid"/>
            <a:headEnd type="none" len="sm" w="sm"/>
            <a:tailEnd type="none" len="sm" w="sm"/>
          </a:ln>
        </p:spPr>
      </p:sp>
      <p:sp>
        <p:nvSpPr>
          <p:cNvPr name="AutoShape 25" id="25"/>
          <p:cNvSpPr/>
          <p:nvPr/>
        </p:nvSpPr>
        <p:spPr>
          <a:xfrm flipV="true">
            <a:off x="12141600" y="8203310"/>
            <a:ext cx="0" cy="554619"/>
          </a:xfrm>
          <a:prstGeom prst="line">
            <a:avLst/>
          </a:prstGeom>
          <a:ln cap="flat" w="28575">
            <a:solidFill>
              <a:srgbClr val="000000"/>
            </a:solidFill>
            <a:prstDash val="solid"/>
            <a:headEnd type="none" len="sm" w="sm"/>
            <a:tailEnd type="none" len="sm" w="sm"/>
          </a:ln>
        </p:spPr>
      </p:sp>
      <p:sp>
        <p:nvSpPr>
          <p:cNvPr name="AutoShape 26" id="26"/>
          <p:cNvSpPr/>
          <p:nvPr/>
        </p:nvSpPr>
        <p:spPr>
          <a:xfrm flipV="true">
            <a:off x="12601077" y="7754070"/>
            <a:ext cx="0" cy="554619"/>
          </a:xfrm>
          <a:prstGeom prst="line">
            <a:avLst/>
          </a:prstGeom>
          <a:ln cap="flat" w="28575">
            <a:solidFill>
              <a:srgbClr val="000000"/>
            </a:solidFill>
            <a:prstDash val="solid"/>
            <a:headEnd type="none" len="sm" w="sm"/>
            <a:tailEnd type="none" len="sm" w="sm"/>
          </a:ln>
        </p:spPr>
      </p:sp>
      <p:sp>
        <p:nvSpPr>
          <p:cNvPr name="AutoShape 27" id="27"/>
          <p:cNvSpPr/>
          <p:nvPr/>
        </p:nvSpPr>
        <p:spPr>
          <a:xfrm flipV="true">
            <a:off x="12617668" y="8631691"/>
            <a:ext cx="0" cy="554619"/>
          </a:xfrm>
          <a:prstGeom prst="line">
            <a:avLst/>
          </a:prstGeom>
          <a:ln cap="flat" w="28575">
            <a:solidFill>
              <a:srgbClr val="000000"/>
            </a:solidFill>
            <a:prstDash val="solid"/>
            <a:headEnd type="none" len="sm" w="sm"/>
            <a:tailEnd type="none" len="sm" w="sm"/>
          </a:ln>
        </p:spPr>
      </p:sp>
      <p:sp>
        <p:nvSpPr>
          <p:cNvPr name="AutoShape 28" id="28"/>
          <p:cNvSpPr/>
          <p:nvPr/>
        </p:nvSpPr>
        <p:spPr>
          <a:xfrm flipH="true" flipV="true">
            <a:off x="11592919" y="8476163"/>
            <a:ext cx="554619" cy="0"/>
          </a:xfrm>
          <a:prstGeom prst="line">
            <a:avLst/>
          </a:prstGeom>
          <a:ln cap="flat" w="28575">
            <a:solidFill>
              <a:srgbClr val="000000"/>
            </a:solidFill>
            <a:prstDash val="solid"/>
            <a:headEnd type="none" len="sm" w="sm"/>
            <a:tailEnd type="none" len="sm" w="sm"/>
          </a:ln>
        </p:spPr>
      </p:sp>
      <p:sp>
        <p:nvSpPr>
          <p:cNvPr name="TextBox 29" id="29"/>
          <p:cNvSpPr txBox="true"/>
          <p:nvPr/>
        </p:nvSpPr>
        <p:spPr>
          <a:xfrm rot="0">
            <a:off x="11592919" y="8254985"/>
            <a:ext cx="142106" cy="221178"/>
          </a:xfrm>
          <a:prstGeom prst="rect">
            <a:avLst/>
          </a:prstGeom>
        </p:spPr>
        <p:txBody>
          <a:bodyPr anchor="t" rtlCol="false" tIns="0" lIns="0" bIns="0" rIns="0">
            <a:spAutoFit/>
          </a:bodyPr>
          <a:lstStyle/>
          <a:p>
            <a:pPr algn="ctr">
              <a:lnSpc>
                <a:spcPts val="1889"/>
              </a:lnSpc>
              <a:spcBef>
                <a:spcPct val="0"/>
              </a:spcBef>
            </a:pPr>
            <a:r>
              <a:rPr lang="en-US" sz="1349">
                <a:solidFill>
                  <a:srgbClr val="000000"/>
                </a:solidFill>
                <a:latin typeface="League Spartan"/>
                <a:ea typeface="League Spartan"/>
                <a:cs typeface="League Spartan"/>
                <a:sym typeface="League Spartan"/>
              </a:rPr>
              <a:t>G</a:t>
            </a:r>
          </a:p>
        </p:txBody>
      </p:sp>
      <p:sp>
        <p:nvSpPr>
          <p:cNvPr name="Freeform 30" id="30"/>
          <p:cNvSpPr/>
          <p:nvPr/>
        </p:nvSpPr>
        <p:spPr>
          <a:xfrm flipH="false" flipV="false" rot="0">
            <a:off x="12137152" y="6680273"/>
            <a:ext cx="489239" cy="138766"/>
          </a:xfrm>
          <a:custGeom>
            <a:avLst/>
            <a:gdLst/>
            <a:ahLst/>
            <a:cxnLst/>
            <a:rect r="r" b="b" t="t" l="l"/>
            <a:pathLst>
              <a:path h="138766" w="489239">
                <a:moveTo>
                  <a:pt x="0" y="0"/>
                </a:moveTo>
                <a:lnTo>
                  <a:pt x="489240" y="0"/>
                </a:lnTo>
                <a:lnTo>
                  <a:pt x="489240" y="138767"/>
                </a:lnTo>
                <a:lnTo>
                  <a:pt x="0" y="1387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AutoShape 31" id="31"/>
          <p:cNvSpPr/>
          <p:nvPr/>
        </p:nvSpPr>
        <p:spPr>
          <a:xfrm>
            <a:off x="12127708" y="6426654"/>
            <a:ext cx="476068" cy="0"/>
          </a:xfrm>
          <a:prstGeom prst="line">
            <a:avLst/>
          </a:prstGeom>
          <a:ln cap="flat" w="28575">
            <a:solidFill>
              <a:srgbClr val="000000"/>
            </a:solidFill>
            <a:prstDash val="solid"/>
            <a:headEnd type="none" len="sm" w="sm"/>
            <a:tailEnd type="none" len="sm" w="sm"/>
          </a:ln>
        </p:spPr>
      </p:sp>
      <p:sp>
        <p:nvSpPr>
          <p:cNvPr name="AutoShape 32" id="32"/>
          <p:cNvSpPr/>
          <p:nvPr/>
        </p:nvSpPr>
        <p:spPr>
          <a:xfrm flipV="true">
            <a:off x="12127708" y="6321275"/>
            <a:ext cx="0" cy="554619"/>
          </a:xfrm>
          <a:prstGeom prst="line">
            <a:avLst/>
          </a:prstGeom>
          <a:ln cap="flat" w="28575">
            <a:solidFill>
              <a:srgbClr val="000000"/>
            </a:solidFill>
            <a:prstDash val="solid"/>
            <a:headEnd type="none" len="sm" w="sm"/>
            <a:tailEnd type="none" len="sm" w="sm"/>
          </a:ln>
        </p:spPr>
      </p:sp>
      <p:sp>
        <p:nvSpPr>
          <p:cNvPr name="AutoShape 33" id="33"/>
          <p:cNvSpPr/>
          <p:nvPr/>
        </p:nvSpPr>
        <p:spPr>
          <a:xfrm flipV="true">
            <a:off x="12587186" y="5872035"/>
            <a:ext cx="0" cy="554619"/>
          </a:xfrm>
          <a:prstGeom prst="line">
            <a:avLst/>
          </a:prstGeom>
          <a:ln cap="flat" w="28575">
            <a:solidFill>
              <a:srgbClr val="000000"/>
            </a:solidFill>
            <a:prstDash val="solid"/>
            <a:headEnd type="none" len="sm" w="sm"/>
            <a:tailEnd type="none" len="sm" w="sm"/>
          </a:ln>
        </p:spPr>
      </p:sp>
      <p:sp>
        <p:nvSpPr>
          <p:cNvPr name="AutoShape 34" id="34"/>
          <p:cNvSpPr/>
          <p:nvPr/>
        </p:nvSpPr>
        <p:spPr>
          <a:xfrm flipV="true">
            <a:off x="12603776" y="6749657"/>
            <a:ext cx="0" cy="554619"/>
          </a:xfrm>
          <a:prstGeom prst="line">
            <a:avLst/>
          </a:prstGeom>
          <a:ln cap="flat" w="28575">
            <a:solidFill>
              <a:srgbClr val="000000"/>
            </a:solidFill>
            <a:prstDash val="solid"/>
            <a:headEnd type="none" len="sm" w="sm"/>
            <a:tailEnd type="none" len="sm" w="sm"/>
          </a:ln>
        </p:spPr>
      </p:sp>
      <p:sp>
        <p:nvSpPr>
          <p:cNvPr name="AutoShape 35" id="35"/>
          <p:cNvSpPr/>
          <p:nvPr/>
        </p:nvSpPr>
        <p:spPr>
          <a:xfrm flipH="true">
            <a:off x="11579027" y="6594129"/>
            <a:ext cx="554619" cy="0"/>
          </a:xfrm>
          <a:prstGeom prst="line">
            <a:avLst/>
          </a:prstGeom>
          <a:ln cap="flat" w="28575">
            <a:solidFill>
              <a:srgbClr val="000000"/>
            </a:solidFill>
            <a:prstDash val="solid"/>
            <a:headEnd type="none" len="sm" w="sm"/>
            <a:tailEnd type="none" len="sm" w="sm"/>
          </a:ln>
        </p:spPr>
      </p:sp>
      <p:sp>
        <p:nvSpPr>
          <p:cNvPr name="TextBox 36" id="36"/>
          <p:cNvSpPr txBox="true"/>
          <p:nvPr/>
        </p:nvSpPr>
        <p:spPr>
          <a:xfrm rot="0">
            <a:off x="11579027" y="6372951"/>
            <a:ext cx="142106" cy="221178"/>
          </a:xfrm>
          <a:prstGeom prst="rect">
            <a:avLst/>
          </a:prstGeom>
        </p:spPr>
        <p:txBody>
          <a:bodyPr anchor="t" rtlCol="false" tIns="0" lIns="0" bIns="0" rIns="0">
            <a:spAutoFit/>
          </a:bodyPr>
          <a:lstStyle/>
          <a:p>
            <a:pPr algn="ctr">
              <a:lnSpc>
                <a:spcPts val="1889"/>
              </a:lnSpc>
              <a:spcBef>
                <a:spcPct val="0"/>
              </a:spcBef>
            </a:pPr>
            <a:r>
              <a:rPr lang="en-US" sz="1349">
                <a:solidFill>
                  <a:srgbClr val="000000"/>
                </a:solidFill>
                <a:latin typeface="League Spartan"/>
                <a:ea typeface="League Spartan"/>
                <a:cs typeface="League Spartan"/>
                <a:sym typeface="League Spartan"/>
              </a:rPr>
              <a:t>G</a:t>
            </a:r>
          </a:p>
        </p:txBody>
      </p:sp>
      <p:sp>
        <p:nvSpPr>
          <p:cNvPr name="AutoShape 37" id="37"/>
          <p:cNvSpPr/>
          <p:nvPr/>
        </p:nvSpPr>
        <p:spPr>
          <a:xfrm>
            <a:off x="6227544" y="6587069"/>
            <a:ext cx="5472918" cy="3154"/>
          </a:xfrm>
          <a:prstGeom prst="line">
            <a:avLst/>
          </a:prstGeom>
          <a:ln cap="flat" w="28575">
            <a:solidFill>
              <a:srgbClr val="000000"/>
            </a:solidFill>
            <a:prstDash val="solid"/>
            <a:headEnd type="none" len="sm" w="sm"/>
            <a:tailEnd type="none" len="sm" w="sm"/>
          </a:ln>
        </p:spPr>
      </p:sp>
      <p:sp>
        <p:nvSpPr>
          <p:cNvPr name="AutoShape 38" id="38"/>
          <p:cNvSpPr/>
          <p:nvPr/>
        </p:nvSpPr>
        <p:spPr>
          <a:xfrm>
            <a:off x="8491301" y="8471218"/>
            <a:ext cx="3572477" cy="0"/>
          </a:xfrm>
          <a:prstGeom prst="line">
            <a:avLst/>
          </a:prstGeom>
          <a:ln cap="flat" w="28575">
            <a:solidFill>
              <a:srgbClr val="000000"/>
            </a:solidFill>
            <a:prstDash val="solid"/>
            <a:headEnd type="none" len="sm" w="sm"/>
            <a:tailEnd type="none" len="sm" w="sm"/>
          </a:ln>
        </p:spPr>
      </p:sp>
      <p:sp>
        <p:nvSpPr>
          <p:cNvPr name="AutoShape 39" id="39"/>
          <p:cNvSpPr/>
          <p:nvPr/>
        </p:nvSpPr>
        <p:spPr>
          <a:xfrm flipH="true" flipV="true">
            <a:off x="8491301" y="5515563"/>
            <a:ext cx="0" cy="2973020"/>
          </a:xfrm>
          <a:prstGeom prst="line">
            <a:avLst/>
          </a:prstGeom>
          <a:ln cap="flat" w="28575">
            <a:solidFill>
              <a:srgbClr val="000000"/>
            </a:solidFill>
            <a:prstDash val="solid"/>
            <a:headEnd type="none" len="sm" w="sm"/>
            <a:tailEnd type="none" len="sm" w="sm"/>
          </a:ln>
        </p:spPr>
      </p:sp>
      <p:sp>
        <p:nvSpPr>
          <p:cNvPr name="AutoShape 40" id="40"/>
          <p:cNvSpPr/>
          <p:nvPr/>
        </p:nvSpPr>
        <p:spPr>
          <a:xfrm flipH="true" flipV="true">
            <a:off x="9937649" y="6902040"/>
            <a:ext cx="17366" cy="954482"/>
          </a:xfrm>
          <a:prstGeom prst="line">
            <a:avLst/>
          </a:prstGeom>
          <a:ln cap="flat" w="28575">
            <a:solidFill>
              <a:srgbClr val="000000"/>
            </a:solidFill>
            <a:prstDash val="solid"/>
            <a:headEnd type="none" len="sm" w="sm"/>
            <a:tailEnd type="none" len="sm" w="sm"/>
          </a:ln>
        </p:spPr>
      </p:sp>
      <p:sp>
        <p:nvSpPr>
          <p:cNvPr name="AutoShape 41" id="41"/>
          <p:cNvSpPr/>
          <p:nvPr/>
        </p:nvSpPr>
        <p:spPr>
          <a:xfrm>
            <a:off x="12601077" y="6902040"/>
            <a:ext cx="849" cy="954482"/>
          </a:xfrm>
          <a:prstGeom prst="line">
            <a:avLst/>
          </a:prstGeom>
          <a:ln cap="flat" w="28575">
            <a:solidFill>
              <a:srgbClr val="000000"/>
            </a:solidFill>
            <a:prstDash val="solid"/>
            <a:headEnd type="none" len="sm" w="sm"/>
            <a:tailEnd type="none" len="sm" w="sm"/>
          </a:ln>
        </p:spPr>
      </p:sp>
      <p:sp>
        <p:nvSpPr>
          <p:cNvPr name="AutoShape 42" id="42"/>
          <p:cNvSpPr/>
          <p:nvPr/>
        </p:nvSpPr>
        <p:spPr>
          <a:xfrm flipV="true">
            <a:off x="9937649" y="4083883"/>
            <a:ext cx="0" cy="2081994"/>
          </a:xfrm>
          <a:prstGeom prst="line">
            <a:avLst/>
          </a:prstGeom>
          <a:ln cap="flat" w="28575">
            <a:solidFill>
              <a:srgbClr val="000000"/>
            </a:solidFill>
            <a:prstDash val="solid"/>
            <a:headEnd type="none" len="sm" w="sm"/>
            <a:tailEnd type="none" len="sm" w="sm"/>
          </a:ln>
        </p:spPr>
      </p:sp>
      <p:sp>
        <p:nvSpPr>
          <p:cNvPr name="AutoShape 43" id="43"/>
          <p:cNvSpPr/>
          <p:nvPr/>
        </p:nvSpPr>
        <p:spPr>
          <a:xfrm flipV="true">
            <a:off x="12584560" y="4211532"/>
            <a:ext cx="0" cy="2081994"/>
          </a:xfrm>
          <a:prstGeom prst="line">
            <a:avLst/>
          </a:prstGeom>
          <a:ln cap="flat" w="28575">
            <a:solidFill>
              <a:srgbClr val="000000"/>
            </a:solidFill>
            <a:prstDash val="solid"/>
            <a:headEnd type="none" len="sm" w="sm"/>
            <a:tailEnd type="none" len="sm" w="sm"/>
          </a:ln>
        </p:spPr>
      </p:sp>
      <p:sp>
        <p:nvSpPr>
          <p:cNvPr name="AutoShape 44" id="44"/>
          <p:cNvSpPr/>
          <p:nvPr/>
        </p:nvSpPr>
        <p:spPr>
          <a:xfrm>
            <a:off x="8473935" y="5501276"/>
            <a:ext cx="1463714" cy="0"/>
          </a:xfrm>
          <a:prstGeom prst="line">
            <a:avLst/>
          </a:prstGeom>
          <a:ln cap="flat" w="28575">
            <a:solidFill>
              <a:srgbClr val="000000"/>
            </a:solidFill>
            <a:prstDash val="solid"/>
            <a:headEnd type="none" len="sm" w="sm"/>
            <a:tailEnd type="none" len="sm" w="sm"/>
          </a:ln>
        </p:spPr>
      </p:sp>
      <p:grpSp>
        <p:nvGrpSpPr>
          <p:cNvPr name="Group 45" id="45"/>
          <p:cNvGrpSpPr/>
          <p:nvPr/>
        </p:nvGrpSpPr>
        <p:grpSpPr>
          <a:xfrm rot="0">
            <a:off x="9883329" y="5421984"/>
            <a:ext cx="108640" cy="108640"/>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47" id="47"/>
            <p:cNvSpPr txBox="true"/>
            <p:nvPr/>
          </p:nvSpPr>
          <p:spPr>
            <a:xfrm>
              <a:off x="76200" y="57150"/>
              <a:ext cx="660400" cy="679450"/>
            </a:xfrm>
            <a:prstGeom prst="rect">
              <a:avLst/>
            </a:prstGeom>
          </p:spPr>
          <p:txBody>
            <a:bodyPr anchor="ctr" rtlCol="false" tIns="46309" lIns="46309" bIns="46309" rIns="46309"/>
            <a:lstStyle/>
            <a:p>
              <a:pPr algn="ctr">
                <a:lnSpc>
                  <a:spcPts val="2063"/>
                </a:lnSpc>
              </a:pPr>
            </a:p>
          </p:txBody>
        </p:sp>
      </p:grpSp>
      <p:sp>
        <p:nvSpPr>
          <p:cNvPr name="AutoShape 48" id="48"/>
          <p:cNvSpPr/>
          <p:nvPr/>
        </p:nvSpPr>
        <p:spPr>
          <a:xfrm flipH="true" flipV="true">
            <a:off x="6966965" y="5570139"/>
            <a:ext cx="0" cy="1021837"/>
          </a:xfrm>
          <a:prstGeom prst="line">
            <a:avLst/>
          </a:prstGeom>
          <a:ln cap="flat" w="28575">
            <a:solidFill>
              <a:srgbClr val="000000"/>
            </a:solidFill>
            <a:prstDash val="solid"/>
            <a:headEnd type="none" len="sm" w="sm"/>
            <a:tailEnd type="none" len="sm" w="sm"/>
          </a:ln>
        </p:spPr>
      </p:sp>
      <p:sp>
        <p:nvSpPr>
          <p:cNvPr name="AutoShape 49" id="49"/>
          <p:cNvSpPr/>
          <p:nvPr/>
        </p:nvSpPr>
        <p:spPr>
          <a:xfrm flipH="true">
            <a:off x="5718817" y="5584944"/>
            <a:ext cx="1248123" cy="17366"/>
          </a:xfrm>
          <a:prstGeom prst="line">
            <a:avLst/>
          </a:prstGeom>
          <a:ln cap="flat" w="28575">
            <a:solidFill>
              <a:srgbClr val="000000"/>
            </a:solidFill>
            <a:prstDash val="solid"/>
            <a:headEnd type="none" len="sm" w="sm"/>
            <a:tailEnd type="none" len="sm" w="sm"/>
          </a:ln>
        </p:spPr>
      </p:sp>
      <p:sp>
        <p:nvSpPr>
          <p:cNvPr name="AutoShape 50" id="50"/>
          <p:cNvSpPr/>
          <p:nvPr/>
        </p:nvSpPr>
        <p:spPr>
          <a:xfrm flipV="true">
            <a:off x="5718817" y="4327928"/>
            <a:ext cx="0" cy="2081994"/>
          </a:xfrm>
          <a:prstGeom prst="line">
            <a:avLst/>
          </a:prstGeom>
          <a:ln cap="flat" w="28575">
            <a:solidFill>
              <a:srgbClr val="000000"/>
            </a:solidFill>
            <a:prstDash val="solid"/>
            <a:headEnd type="none" len="sm" w="sm"/>
            <a:tailEnd type="none" len="sm" w="sm"/>
          </a:ln>
        </p:spPr>
      </p:sp>
      <p:grpSp>
        <p:nvGrpSpPr>
          <p:cNvPr name="Group 51" id="51"/>
          <p:cNvGrpSpPr/>
          <p:nvPr/>
        </p:nvGrpSpPr>
        <p:grpSpPr>
          <a:xfrm rot="0">
            <a:off x="5664497" y="5530624"/>
            <a:ext cx="108640" cy="108640"/>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53" id="53"/>
            <p:cNvSpPr txBox="true"/>
            <p:nvPr/>
          </p:nvSpPr>
          <p:spPr>
            <a:xfrm>
              <a:off x="76200" y="57150"/>
              <a:ext cx="660400" cy="679450"/>
            </a:xfrm>
            <a:prstGeom prst="rect">
              <a:avLst/>
            </a:prstGeom>
          </p:spPr>
          <p:txBody>
            <a:bodyPr anchor="ctr" rtlCol="false" tIns="46309" lIns="46309" bIns="46309" rIns="46309"/>
            <a:lstStyle/>
            <a:p>
              <a:pPr algn="ctr">
                <a:lnSpc>
                  <a:spcPts val="2063"/>
                </a:lnSpc>
              </a:pPr>
            </a:p>
          </p:txBody>
        </p:sp>
      </p:grpSp>
      <p:grpSp>
        <p:nvGrpSpPr>
          <p:cNvPr name="Group 54" id="54"/>
          <p:cNvGrpSpPr/>
          <p:nvPr/>
        </p:nvGrpSpPr>
        <p:grpSpPr>
          <a:xfrm rot="0">
            <a:off x="6912645" y="6520381"/>
            <a:ext cx="108640" cy="108640"/>
            <a:chOff x="0" y="0"/>
            <a:chExt cx="812800" cy="812800"/>
          </a:xfrm>
        </p:grpSpPr>
        <p:sp>
          <p:nvSpPr>
            <p:cNvPr name="Freeform 55" id="5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56" id="56"/>
            <p:cNvSpPr txBox="true"/>
            <p:nvPr/>
          </p:nvSpPr>
          <p:spPr>
            <a:xfrm>
              <a:off x="76200" y="57150"/>
              <a:ext cx="660400" cy="679450"/>
            </a:xfrm>
            <a:prstGeom prst="rect">
              <a:avLst/>
            </a:prstGeom>
          </p:spPr>
          <p:txBody>
            <a:bodyPr anchor="ctr" rtlCol="false" tIns="46309" lIns="46309" bIns="46309" rIns="46309"/>
            <a:lstStyle/>
            <a:p>
              <a:pPr algn="ctr">
                <a:lnSpc>
                  <a:spcPts val="2063"/>
                </a:lnSpc>
              </a:pPr>
            </a:p>
          </p:txBody>
        </p:sp>
      </p:grpSp>
      <p:grpSp>
        <p:nvGrpSpPr>
          <p:cNvPr name="Group 57" id="57"/>
          <p:cNvGrpSpPr/>
          <p:nvPr/>
        </p:nvGrpSpPr>
        <p:grpSpPr>
          <a:xfrm rot="-10800000">
            <a:off x="5530657" y="7629551"/>
            <a:ext cx="376319" cy="249037"/>
            <a:chOff x="0" y="0"/>
            <a:chExt cx="779112" cy="515595"/>
          </a:xfrm>
        </p:grpSpPr>
        <p:sp>
          <p:nvSpPr>
            <p:cNvPr name="Freeform 58" id="58"/>
            <p:cNvSpPr/>
            <p:nvPr/>
          </p:nvSpPr>
          <p:spPr>
            <a:xfrm flipH="false" flipV="false" rot="0">
              <a:off x="0" y="0"/>
              <a:ext cx="779112" cy="515595"/>
            </a:xfrm>
            <a:custGeom>
              <a:avLst/>
              <a:gdLst/>
              <a:ahLst/>
              <a:cxnLst/>
              <a:rect r="r" b="b" t="t" l="l"/>
              <a:pathLst>
                <a:path h="515595" w="779112">
                  <a:moveTo>
                    <a:pt x="389556" y="0"/>
                  </a:moveTo>
                  <a:lnTo>
                    <a:pt x="779112" y="515595"/>
                  </a:lnTo>
                  <a:lnTo>
                    <a:pt x="0" y="515595"/>
                  </a:lnTo>
                  <a:lnTo>
                    <a:pt x="389556" y="0"/>
                  </a:lnTo>
                  <a:close/>
                </a:path>
              </a:pathLst>
            </a:custGeom>
            <a:ln w="38100" cap="sq">
              <a:solidFill>
                <a:srgbClr val="000000"/>
              </a:solidFill>
              <a:prstDash val="solid"/>
              <a:miter/>
            </a:ln>
          </p:spPr>
        </p:sp>
        <p:sp>
          <p:nvSpPr>
            <p:cNvPr name="TextBox 59" id="59"/>
            <p:cNvSpPr txBox="true"/>
            <p:nvPr/>
          </p:nvSpPr>
          <p:spPr>
            <a:xfrm>
              <a:off x="121736" y="220333"/>
              <a:ext cx="535640" cy="258433"/>
            </a:xfrm>
            <a:prstGeom prst="rect">
              <a:avLst/>
            </a:prstGeom>
          </p:spPr>
          <p:txBody>
            <a:bodyPr anchor="ctr" rtlCol="false" tIns="41420" lIns="41420" bIns="41420" rIns="41420"/>
            <a:lstStyle/>
            <a:p>
              <a:pPr algn="ctr">
                <a:lnSpc>
                  <a:spcPts val="2072"/>
                </a:lnSpc>
              </a:pPr>
            </a:p>
          </p:txBody>
        </p:sp>
      </p:grpSp>
      <p:sp>
        <p:nvSpPr>
          <p:cNvPr name="AutoShape 60" id="60"/>
          <p:cNvSpPr/>
          <p:nvPr/>
        </p:nvSpPr>
        <p:spPr>
          <a:xfrm>
            <a:off x="5718817" y="7195687"/>
            <a:ext cx="0" cy="462134"/>
          </a:xfrm>
          <a:prstGeom prst="line">
            <a:avLst/>
          </a:prstGeom>
          <a:ln cap="flat" w="28575">
            <a:solidFill>
              <a:srgbClr val="000000"/>
            </a:solidFill>
            <a:prstDash val="solid"/>
            <a:headEnd type="none" len="sm" w="sm"/>
            <a:tailEnd type="none" len="sm" w="sm"/>
          </a:ln>
        </p:spPr>
      </p:sp>
      <p:grpSp>
        <p:nvGrpSpPr>
          <p:cNvPr name="Group 61" id="61"/>
          <p:cNvGrpSpPr/>
          <p:nvPr/>
        </p:nvGrpSpPr>
        <p:grpSpPr>
          <a:xfrm rot="-10800000">
            <a:off x="12430832" y="9549846"/>
            <a:ext cx="376319" cy="249037"/>
            <a:chOff x="0" y="0"/>
            <a:chExt cx="779112" cy="515595"/>
          </a:xfrm>
        </p:grpSpPr>
        <p:sp>
          <p:nvSpPr>
            <p:cNvPr name="Freeform 62" id="62"/>
            <p:cNvSpPr/>
            <p:nvPr/>
          </p:nvSpPr>
          <p:spPr>
            <a:xfrm flipH="false" flipV="false" rot="0">
              <a:off x="0" y="0"/>
              <a:ext cx="779112" cy="515595"/>
            </a:xfrm>
            <a:custGeom>
              <a:avLst/>
              <a:gdLst/>
              <a:ahLst/>
              <a:cxnLst/>
              <a:rect r="r" b="b" t="t" l="l"/>
              <a:pathLst>
                <a:path h="515595" w="779112">
                  <a:moveTo>
                    <a:pt x="389556" y="0"/>
                  </a:moveTo>
                  <a:lnTo>
                    <a:pt x="779112" y="515595"/>
                  </a:lnTo>
                  <a:lnTo>
                    <a:pt x="0" y="515595"/>
                  </a:lnTo>
                  <a:lnTo>
                    <a:pt x="389556" y="0"/>
                  </a:lnTo>
                  <a:close/>
                </a:path>
              </a:pathLst>
            </a:custGeom>
            <a:ln w="38100" cap="sq">
              <a:solidFill>
                <a:srgbClr val="000000"/>
              </a:solidFill>
              <a:prstDash val="solid"/>
              <a:miter/>
            </a:ln>
          </p:spPr>
        </p:sp>
        <p:sp>
          <p:nvSpPr>
            <p:cNvPr name="TextBox 63" id="63"/>
            <p:cNvSpPr txBox="true"/>
            <p:nvPr/>
          </p:nvSpPr>
          <p:spPr>
            <a:xfrm>
              <a:off x="121736" y="220333"/>
              <a:ext cx="535640" cy="258433"/>
            </a:xfrm>
            <a:prstGeom prst="rect">
              <a:avLst/>
            </a:prstGeom>
          </p:spPr>
          <p:txBody>
            <a:bodyPr anchor="ctr" rtlCol="false" tIns="41420" lIns="41420" bIns="41420" rIns="41420"/>
            <a:lstStyle/>
            <a:p>
              <a:pPr algn="ctr">
                <a:lnSpc>
                  <a:spcPts val="2072"/>
                </a:lnSpc>
              </a:pPr>
            </a:p>
          </p:txBody>
        </p:sp>
      </p:grpSp>
      <p:sp>
        <p:nvSpPr>
          <p:cNvPr name="AutoShape 64" id="64"/>
          <p:cNvSpPr/>
          <p:nvPr/>
        </p:nvSpPr>
        <p:spPr>
          <a:xfrm>
            <a:off x="12618991" y="9087712"/>
            <a:ext cx="0" cy="462134"/>
          </a:xfrm>
          <a:prstGeom prst="line">
            <a:avLst/>
          </a:prstGeom>
          <a:ln cap="flat" w="28575">
            <a:solidFill>
              <a:srgbClr val="000000"/>
            </a:solidFill>
            <a:prstDash val="solid"/>
            <a:headEnd type="none" len="sm" w="sm"/>
            <a:tailEnd type="none" len="sm" w="sm"/>
          </a:ln>
        </p:spPr>
      </p:sp>
      <p:grpSp>
        <p:nvGrpSpPr>
          <p:cNvPr name="Group 65" id="65"/>
          <p:cNvGrpSpPr/>
          <p:nvPr/>
        </p:nvGrpSpPr>
        <p:grpSpPr>
          <a:xfrm rot="-10800000">
            <a:off x="9787376" y="9549846"/>
            <a:ext cx="376319" cy="249037"/>
            <a:chOff x="0" y="0"/>
            <a:chExt cx="779112" cy="515595"/>
          </a:xfrm>
        </p:grpSpPr>
        <p:sp>
          <p:nvSpPr>
            <p:cNvPr name="Freeform 66" id="66"/>
            <p:cNvSpPr/>
            <p:nvPr/>
          </p:nvSpPr>
          <p:spPr>
            <a:xfrm flipH="false" flipV="false" rot="0">
              <a:off x="0" y="0"/>
              <a:ext cx="779112" cy="515595"/>
            </a:xfrm>
            <a:custGeom>
              <a:avLst/>
              <a:gdLst/>
              <a:ahLst/>
              <a:cxnLst/>
              <a:rect r="r" b="b" t="t" l="l"/>
              <a:pathLst>
                <a:path h="515595" w="779112">
                  <a:moveTo>
                    <a:pt x="389556" y="0"/>
                  </a:moveTo>
                  <a:lnTo>
                    <a:pt x="779112" y="515595"/>
                  </a:lnTo>
                  <a:lnTo>
                    <a:pt x="0" y="515595"/>
                  </a:lnTo>
                  <a:lnTo>
                    <a:pt x="389556" y="0"/>
                  </a:lnTo>
                  <a:close/>
                </a:path>
              </a:pathLst>
            </a:custGeom>
            <a:ln w="38100" cap="sq">
              <a:solidFill>
                <a:srgbClr val="000000"/>
              </a:solidFill>
              <a:prstDash val="solid"/>
              <a:miter/>
            </a:ln>
          </p:spPr>
        </p:sp>
        <p:sp>
          <p:nvSpPr>
            <p:cNvPr name="TextBox 67" id="67"/>
            <p:cNvSpPr txBox="true"/>
            <p:nvPr/>
          </p:nvSpPr>
          <p:spPr>
            <a:xfrm>
              <a:off x="121736" y="220333"/>
              <a:ext cx="535640" cy="258433"/>
            </a:xfrm>
            <a:prstGeom prst="rect">
              <a:avLst/>
            </a:prstGeom>
          </p:spPr>
          <p:txBody>
            <a:bodyPr anchor="ctr" rtlCol="false" tIns="41420" lIns="41420" bIns="41420" rIns="41420"/>
            <a:lstStyle/>
            <a:p>
              <a:pPr algn="ctr">
                <a:lnSpc>
                  <a:spcPts val="2072"/>
                </a:lnSpc>
              </a:pPr>
            </a:p>
          </p:txBody>
        </p:sp>
      </p:grpSp>
      <p:sp>
        <p:nvSpPr>
          <p:cNvPr name="AutoShape 68" id="68"/>
          <p:cNvSpPr/>
          <p:nvPr/>
        </p:nvSpPr>
        <p:spPr>
          <a:xfrm>
            <a:off x="9975535" y="9087712"/>
            <a:ext cx="0" cy="462134"/>
          </a:xfrm>
          <a:prstGeom prst="line">
            <a:avLst/>
          </a:prstGeom>
          <a:ln cap="flat" w="28575">
            <a:solidFill>
              <a:srgbClr val="000000"/>
            </a:solidFill>
            <a:prstDash val="solid"/>
            <a:headEnd type="none" len="sm" w="sm"/>
            <a:tailEnd type="none" len="sm" w="sm"/>
          </a:ln>
        </p:spPr>
      </p:sp>
      <p:sp>
        <p:nvSpPr>
          <p:cNvPr name="AutoShape 69" id="69"/>
          <p:cNvSpPr/>
          <p:nvPr/>
        </p:nvSpPr>
        <p:spPr>
          <a:xfrm flipV="true">
            <a:off x="12575958" y="5208150"/>
            <a:ext cx="2444398" cy="11423"/>
          </a:xfrm>
          <a:prstGeom prst="line">
            <a:avLst/>
          </a:prstGeom>
          <a:ln cap="flat" w="28575">
            <a:solidFill>
              <a:srgbClr val="000000"/>
            </a:solidFill>
            <a:prstDash val="solid"/>
            <a:headEnd type="none" len="sm" w="sm"/>
            <a:tailEnd type="none" len="sm" w="sm"/>
          </a:ln>
        </p:spPr>
      </p:sp>
      <p:sp>
        <p:nvSpPr>
          <p:cNvPr name="Freeform 70" id="70"/>
          <p:cNvSpPr/>
          <p:nvPr/>
        </p:nvSpPr>
        <p:spPr>
          <a:xfrm flipH="false" flipV="false" rot="5400000">
            <a:off x="5054921" y="4550546"/>
            <a:ext cx="760293" cy="215647"/>
          </a:xfrm>
          <a:custGeom>
            <a:avLst/>
            <a:gdLst/>
            <a:ahLst/>
            <a:cxnLst/>
            <a:rect r="r" b="b" t="t" l="l"/>
            <a:pathLst>
              <a:path h="215647" w="760293">
                <a:moveTo>
                  <a:pt x="0" y="0"/>
                </a:moveTo>
                <a:lnTo>
                  <a:pt x="760294" y="0"/>
                </a:lnTo>
                <a:lnTo>
                  <a:pt x="760294" y="215647"/>
                </a:lnTo>
                <a:lnTo>
                  <a:pt x="0" y="2156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1" id="71"/>
          <p:cNvSpPr txBox="true"/>
          <p:nvPr/>
        </p:nvSpPr>
        <p:spPr>
          <a:xfrm rot="0">
            <a:off x="4140369" y="4459112"/>
            <a:ext cx="1390288" cy="470765"/>
          </a:xfrm>
          <a:prstGeom prst="rect">
            <a:avLst/>
          </a:prstGeom>
        </p:spPr>
        <p:txBody>
          <a:bodyPr anchor="t" rtlCol="false" tIns="0" lIns="0" bIns="0" rIns="0">
            <a:spAutoFit/>
          </a:bodyPr>
          <a:lstStyle/>
          <a:p>
            <a:pPr algn="ctr">
              <a:lnSpc>
                <a:spcPts val="3957"/>
              </a:lnSpc>
            </a:pPr>
            <a:r>
              <a:rPr lang="en-US" sz="2826" b="true">
                <a:solidFill>
                  <a:srgbClr val="000000"/>
                </a:solidFill>
                <a:latin typeface="Canva Sans Bold"/>
                <a:ea typeface="Canva Sans Bold"/>
                <a:cs typeface="Canva Sans Bold"/>
                <a:sym typeface="Canva Sans Bold"/>
              </a:rPr>
              <a:t>Ibias</a:t>
            </a:r>
          </a:p>
        </p:txBody>
      </p:sp>
      <p:sp>
        <p:nvSpPr>
          <p:cNvPr name="TextBox 72" id="72"/>
          <p:cNvSpPr txBox="true"/>
          <p:nvPr/>
        </p:nvSpPr>
        <p:spPr>
          <a:xfrm rot="0">
            <a:off x="9706267" y="4299353"/>
            <a:ext cx="1390288" cy="470765"/>
          </a:xfrm>
          <a:prstGeom prst="rect">
            <a:avLst/>
          </a:prstGeom>
        </p:spPr>
        <p:txBody>
          <a:bodyPr anchor="t" rtlCol="false" tIns="0" lIns="0" bIns="0" rIns="0">
            <a:spAutoFit/>
          </a:bodyPr>
          <a:lstStyle/>
          <a:p>
            <a:pPr algn="ctr">
              <a:lnSpc>
                <a:spcPts val="3957"/>
              </a:lnSpc>
            </a:pPr>
            <a:r>
              <a:rPr lang="en-US" sz="2826" b="true">
                <a:solidFill>
                  <a:srgbClr val="000000"/>
                </a:solidFill>
                <a:latin typeface="Canva Sans Bold"/>
                <a:ea typeface="Canva Sans Bold"/>
                <a:cs typeface="Canva Sans Bold"/>
                <a:sym typeface="Canva Sans Bold"/>
              </a:rPr>
              <a:t>Iref</a:t>
            </a:r>
          </a:p>
        </p:txBody>
      </p:sp>
      <p:sp>
        <p:nvSpPr>
          <p:cNvPr name="TextBox 73" id="73"/>
          <p:cNvSpPr txBox="true"/>
          <p:nvPr/>
        </p:nvSpPr>
        <p:spPr>
          <a:xfrm rot="0">
            <a:off x="12381772" y="4294473"/>
            <a:ext cx="1390288" cy="470765"/>
          </a:xfrm>
          <a:prstGeom prst="rect">
            <a:avLst/>
          </a:prstGeom>
        </p:spPr>
        <p:txBody>
          <a:bodyPr anchor="t" rtlCol="false" tIns="0" lIns="0" bIns="0" rIns="0">
            <a:spAutoFit/>
          </a:bodyPr>
          <a:lstStyle/>
          <a:p>
            <a:pPr algn="ctr">
              <a:lnSpc>
                <a:spcPts val="3957"/>
              </a:lnSpc>
            </a:pPr>
            <a:r>
              <a:rPr lang="en-US" sz="2826" b="true">
                <a:solidFill>
                  <a:srgbClr val="000000"/>
                </a:solidFill>
                <a:latin typeface="Canva Sans Bold"/>
                <a:ea typeface="Canva Sans Bold"/>
                <a:cs typeface="Canva Sans Bold"/>
                <a:sym typeface="Canva Sans Bold"/>
              </a:rPr>
              <a:t>Iout</a:t>
            </a:r>
          </a:p>
        </p:txBody>
      </p:sp>
      <p:sp>
        <p:nvSpPr>
          <p:cNvPr name="Freeform 74" id="74"/>
          <p:cNvSpPr/>
          <p:nvPr/>
        </p:nvSpPr>
        <p:spPr>
          <a:xfrm flipH="false" flipV="false" rot="5400000">
            <a:off x="12015517" y="4550546"/>
            <a:ext cx="760293" cy="215647"/>
          </a:xfrm>
          <a:custGeom>
            <a:avLst/>
            <a:gdLst/>
            <a:ahLst/>
            <a:cxnLst/>
            <a:rect r="r" b="b" t="t" l="l"/>
            <a:pathLst>
              <a:path h="215647" w="760293">
                <a:moveTo>
                  <a:pt x="0" y="0"/>
                </a:moveTo>
                <a:lnTo>
                  <a:pt x="760294" y="0"/>
                </a:lnTo>
                <a:lnTo>
                  <a:pt x="760294" y="215647"/>
                </a:lnTo>
                <a:lnTo>
                  <a:pt x="0" y="2156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5" id="75"/>
          <p:cNvSpPr/>
          <p:nvPr/>
        </p:nvSpPr>
        <p:spPr>
          <a:xfrm flipH="false" flipV="false" rot="5400000">
            <a:off x="9395359" y="4521955"/>
            <a:ext cx="760293" cy="215647"/>
          </a:xfrm>
          <a:custGeom>
            <a:avLst/>
            <a:gdLst/>
            <a:ahLst/>
            <a:cxnLst/>
            <a:rect r="r" b="b" t="t" l="l"/>
            <a:pathLst>
              <a:path h="215647" w="760293">
                <a:moveTo>
                  <a:pt x="0" y="0"/>
                </a:moveTo>
                <a:lnTo>
                  <a:pt x="760294" y="0"/>
                </a:lnTo>
                <a:lnTo>
                  <a:pt x="760294" y="215647"/>
                </a:lnTo>
                <a:lnTo>
                  <a:pt x="0" y="2156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6" id="76"/>
          <p:cNvGrpSpPr/>
          <p:nvPr/>
        </p:nvGrpSpPr>
        <p:grpSpPr>
          <a:xfrm rot="0">
            <a:off x="8814493" y="2771034"/>
            <a:ext cx="1307139" cy="1564244"/>
            <a:chOff x="0" y="0"/>
            <a:chExt cx="1742851" cy="2085658"/>
          </a:xfrm>
        </p:grpSpPr>
        <p:sp>
          <p:nvSpPr>
            <p:cNvPr name="Freeform 77" id="77"/>
            <p:cNvSpPr/>
            <p:nvPr/>
          </p:nvSpPr>
          <p:spPr>
            <a:xfrm flipH="false" flipV="false" rot="-10800000">
              <a:off x="779820" y="702282"/>
              <a:ext cx="712441" cy="202074"/>
            </a:xfrm>
            <a:custGeom>
              <a:avLst/>
              <a:gdLst/>
              <a:ahLst/>
              <a:cxnLst/>
              <a:rect r="r" b="b" t="t" l="l"/>
              <a:pathLst>
                <a:path h="202074" w="712441">
                  <a:moveTo>
                    <a:pt x="0" y="0"/>
                  </a:moveTo>
                  <a:lnTo>
                    <a:pt x="712441" y="0"/>
                  </a:lnTo>
                  <a:lnTo>
                    <a:pt x="712441" y="202074"/>
                  </a:lnTo>
                  <a:lnTo>
                    <a:pt x="0" y="2020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AutoShape 78" id="78"/>
            <p:cNvSpPr/>
            <p:nvPr/>
          </p:nvSpPr>
          <p:spPr>
            <a:xfrm>
              <a:off x="799001" y="1292587"/>
              <a:ext cx="693260" cy="0"/>
            </a:xfrm>
            <a:prstGeom prst="line">
              <a:avLst/>
            </a:prstGeom>
            <a:ln cap="flat" w="48318">
              <a:solidFill>
                <a:srgbClr val="000000"/>
              </a:solidFill>
              <a:prstDash val="solid"/>
              <a:headEnd type="none" len="sm" w="sm"/>
              <a:tailEnd type="none" len="sm" w="sm"/>
            </a:ln>
          </p:spPr>
        </p:sp>
        <p:sp>
          <p:nvSpPr>
            <p:cNvPr name="AutoShape 79" id="79"/>
            <p:cNvSpPr/>
            <p:nvPr/>
          </p:nvSpPr>
          <p:spPr>
            <a:xfrm flipV="true">
              <a:off x="799001" y="654193"/>
              <a:ext cx="0" cy="807647"/>
            </a:xfrm>
            <a:prstGeom prst="line">
              <a:avLst/>
            </a:prstGeom>
            <a:ln cap="flat" w="48318">
              <a:solidFill>
                <a:srgbClr val="000000"/>
              </a:solidFill>
              <a:prstDash val="solid"/>
              <a:headEnd type="none" len="sm" w="sm"/>
              <a:tailEnd type="none" len="sm" w="sm"/>
            </a:ln>
          </p:spPr>
        </p:sp>
        <p:sp>
          <p:nvSpPr>
            <p:cNvPr name="AutoShape 80" id="80"/>
            <p:cNvSpPr/>
            <p:nvPr/>
          </p:nvSpPr>
          <p:spPr>
            <a:xfrm flipV="true">
              <a:off x="1468102" y="0"/>
              <a:ext cx="0" cy="807647"/>
            </a:xfrm>
            <a:prstGeom prst="line">
              <a:avLst/>
            </a:prstGeom>
            <a:ln cap="flat" w="48318">
              <a:solidFill>
                <a:srgbClr val="000000"/>
              </a:solidFill>
              <a:prstDash val="solid"/>
              <a:headEnd type="none" len="sm" w="sm"/>
              <a:tailEnd type="none" len="sm" w="sm"/>
            </a:ln>
          </p:spPr>
        </p:sp>
        <p:sp>
          <p:nvSpPr>
            <p:cNvPr name="AutoShape 81" id="81"/>
            <p:cNvSpPr/>
            <p:nvPr/>
          </p:nvSpPr>
          <p:spPr>
            <a:xfrm flipV="true">
              <a:off x="1492261" y="1278011"/>
              <a:ext cx="0" cy="807647"/>
            </a:xfrm>
            <a:prstGeom prst="line">
              <a:avLst/>
            </a:prstGeom>
            <a:ln cap="flat" w="48318">
              <a:solidFill>
                <a:srgbClr val="000000"/>
              </a:solidFill>
              <a:prstDash val="solid"/>
              <a:headEnd type="none" len="sm" w="sm"/>
              <a:tailEnd type="none" len="sm" w="sm"/>
            </a:ln>
          </p:spPr>
        </p:sp>
        <p:sp>
          <p:nvSpPr>
            <p:cNvPr name="AutoShape 82" id="82"/>
            <p:cNvSpPr/>
            <p:nvPr/>
          </p:nvSpPr>
          <p:spPr>
            <a:xfrm flipH="true" flipV="true">
              <a:off x="0" y="1051527"/>
              <a:ext cx="807647" cy="0"/>
            </a:xfrm>
            <a:prstGeom prst="line">
              <a:avLst/>
            </a:prstGeom>
            <a:ln cap="flat" w="48318">
              <a:solidFill>
                <a:srgbClr val="000000"/>
              </a:solidFill>
              <a:prstDash val="solid"/>
              <a:headEnd type="none" len="sm" w="sm"/>
              <a:tailEnd type="none" len="sm" w="sm"/>
            </a:ln>
          </p:spPr>
        </p:sp>
        <p:sp>
          <p:nvSpPr>
            <p:cNvPr name="TextBox 83" id="83"/>
            <p:cNvSpPr txBox="true"/>
            <p:nvPr/>
          </p:nvSpPr>
          <p:spPr>
            <a:xfrm rot="0">
              <a:off x="0" y="738134"/>
              <a:ext cx="206938" cy="313393"/>
            </a:xfrm>
            <a:prstGeom prst="rect">
              <a:avLst/>
            </a:prstGeom>
          </p:spPr>
          <p:txBody>
            <a:bodyPr anchor="t" rtlCol="false" tIns="0" lIns="0" bIns="0" rIns="0">
              <a:spAutoFit/>
            </a:bodyPr>
            <a:lstStyle/>
            <a:p>
              <a:pPr algn="ctr">
                <a:lnSpc>
                  <a:spcPts val="2063"/>
                </a:lnSpc>
                <a:spcBef>
                  <a:spcPct val="0"/>
                </a:spcBef>
              </a:pPr>
              <a:r>
                <a:rPr lang="en-US" sz="1474">
                  <a:solidFill>
                    <a:srgbClr val="000000"/>
                  </a:solidFill>
                  <a:latin typeface="League Spartan"/>
                  <a:ea typeface="League Spartan"/>
                  <a:cs typeface="League Spartan"/>
                  <a:sym typeface="League Spartan"/>
                </a:rPr>
                <a:t>G</a:t>
              </a:r>
            </a:p>
          </p:txBody>
        </p:sp>
        <p:sp>
          <p:nvSpPr>
            <p:cNvPr name="TextBox 84" id="84"/>
            <p:cNvSpPr txBox="true"/>
            <p:nvPr/>
          </p:nvSpPr>
          <p:spPr>
            <a:xfrm rot="0">
              <a:off x="1558562" y="1772265"/>
              <a:ext cx="184289" cy="313393"/>
            </a:xfrm>
            <a:prstGeom prst="rect">
              <a:avLst/>
            </a:prstGeom>
          </p:spPr>
          <p:txBody>
            <a:bodyPr anchor="t" rtlCol="false" tIns="0" lIns="0" bIns="0" rIns="0">
              <a:spAutoFit/>
            </a:bodyPr>
            <a:lstStyle/>
            <a:p>
              <a:pPr algn="ctr">
                <a:lnSpc>
                  <a:spcPts val="2063"/>
                </a:lnSpc>
                <a:spcBef>
                  <a:spcPct val="0"/>
                </a:spcBef>
              </a:pPr>
              <a:r>
                <a:rPr lang="en-US" sz="1474">
                  <a:solidFill>
                    <a:srgbClr val="000000"/>
                  </a:solidFill>
                  <a:latin typeface="League Spartan"/>
                  <a:ea typeface="League Spartan"/>
                  <a:cs typeface="League Spartan"/>
                  <a:sym typeface="League Spartan"/>
                </a:rPr>
                <a:t>D</a:t>
              </a:r>
            </a:p>
          </p:txBody>
        </p:sp>
        <p:sp>
          <p:nvSpPr>
            <p:cNvPr name="TextBox 85" id="85"/>
            <p:cNvSpPr txBox="true"/>
            <p:nvPr/>
          </p:nvSpPr>
          <p:spPr>
            <a:xfrm rot="0">
              <a:off x="1558562" y="41234"/>
              <a:ext cx="167755" cy="313393"/>
            </a:xfrm>
            <a:prstGeom prst="rect">
              <a:avLst/>
            </a:prstGeom>
          </p:spPr>
          <p:txBody>
            <a:bodyPr anchor="t" rtlCol="false" tIns="0" lIns="0" bIns="0" rIns="0">
              <a:spAutoFit/>
            </a:bodyPr>
            <a:lstStyle/>
            <a:p>
              <a:pPr algn="ctr">
                <a:lnSpc>
                  <a:spcPts val="2063"/>
                </a:lnSpc>
                <a:spcBef>
                  <a:spcPct val="0"/>
                </a:spcBef>
              </a:pPr>
              <a:r>
                <a:rPr lang="en-US" sz="1474">
                  <a:solidFill>
                    <a:srgbClr val="000000"/>
                  </a:solidFill>
                  <a:latin typeface="League Spartan"/>
                  <a:ea typeface="League Spartan"/>
                  <a:cs typeface="League Spartan"/>
                  <a:sym typeface="League Spartan"/>
                </a:rPr>
                <a:t>S</a:t>
              </a:r>
            </a:p>
          </p:txBody>
        </p:sp>
      </p:grpSp>
      <p:sp>
        <p:nvSpPr>
          <p:cNvPr name="TextBox 86" id="86"/>
          <p:cNvSpPr txBox="true"/>
          <p:nvPr/>
        </p:nvSpPr>
        <p:spPr>
          <a:xfrm rot="0">
            <a:off x="13554283" y="3286755"/>
            <a:ext cx="155204" cy="239807"/>
          </a:xfrm>
          <a:prstGeom prst="rect">
            <a:avLst/>
          </a:prstGeom>
        </p:spPr>
        <p:txBody>
          <a:bodyPr anchor="t" rtlCol="false" tIns="0" lIns="0" bIns="0" rIns="0">
            <a:spAutoFit/>
          </a:bodyPr>
          <a:lstStyle/>
          <a:p>
            <a:pPr algn="ctr">
              <a:lnSpc>
                <a:spcPts val="2063"/>
              </a:lnSpc>
              <a:spcBef>
                <a:spcPct val="0"/>
              </a:spcBef>
            </a:pPr>
            <a:r>
              <a:rPr lang="en-US" sz="1474">
                <a:solidFill>
                  <a:srgbClr val="000000"/>
                </a:solidFill>
                <a:latin typeface="League Spartan"/>
                <a:ea typeface="League Spartan"/>
                <a:cs typeface="League Spartan"/>
                <a:sym typeface="League Spartan"/>
              </a:rPr>
              <a:t>G</a:t>
            </a:r>
          </a:p>
        </p:txBody>
      </p:sp>
      <p:sp>
        <p:nvSpPr>
          <p:cNvPr name="TextBox 87" id="87"/>
          <p:cNvSpPr txBox="true"/>
          <p:nvPr/>
        </p:nvSpPr>
        <p:spPr>
          <a:xfrm rot="0">
            <a:off x="12372247" y="4066990"/>
            <a:ext cx="138217" cy="239807"/>
          </a:xfrm>
          <a:prstGeom prst="rect">
            <a:avLst/>
          </a:prstGeom>
        </p:spPr>
        <p:txBody>
          <a:bodyPr anchor="t" rtlCol="false" tIns="0" lIns="0" bIns="0" rIns="0">
            <a:spAutoFit/>
          </a:bodyPr>
          <a:lstStyle/>
          <a:p>
            <a:pPr algn="ctr">
              <a:lnSpc>
                <a:spcPts val="2063"/>
              </a:lnSpc>
              <a:spcBef>
                <a:spcPct val="0"/>
              </a:spcBef>
            </a:pPr>
            <a:r>
              <a:rPr lang="en-US" sz="1474">
                <a:solidFill>
                  <a:srgbClr val="000000"/>
                </a:solidFill>
                <a:latin typeface="League Spartan"/>
                <a:ea typeface="League Spartan"/>
                <a:cs typeface="League Spartan"/>
                <a:sym typeface="League Spartan"/>
              </a:rPr>
              <a:t>D</a:t>
            </a:r>
          </a:p>
        </p:txBody>
      </p:sp>
      <p:grpSp>
        <p:nvGrpSpPr>
          <p:cNvPr name="Group 88" id="88"/>
          <p:cNvGrpSpPr/>
          <p:nvPr/>
        </p:nvGrpSpPr>
        <p:grpSpPr>
          <a:xfrm rot="0">
            <a:off x="12372221" y="2755608"/>
            <a:ext cx="1337240" cy="1551189"/>
            <a:chOff x="0" y="0"/>
            <a:chExt cx="1782986" cy="2068253"/>
          </a:xfrm>
        </p:grpSpPr>
        <p:sp>
          <p:nvSpPr>
            <p:cNvPr name="Freeform 89" id="89"/>
            <p:cNvSpPr/>
            <p:nvPr/>
          </p:nvSpPr>
          <p:spPr>
            <a:xfrm flipH="false" flipV="false" rot="0">
              <a:off x="262898" y="713025"/>
              <a:ext cx="712441" cy="202074"/>
            </a:xfrm>
            <a:custGeom>
              <a:avLst/>
              <a:gdLst/>
              <a:ahLst/>
              <a:cxnLst/>
              <a:rect r="r" b="b" t="t" l="l"/>
              <a:pathLst>
                <a:path h="202074" w="712441">
                  <a:moveTo>
                    <a:pt x="0" y="0"/>
                  </a:moveTo>
                  <a:lnTo>
                    <a:pt x="712441" y="0"/>
                  </a:lnTo>
                  <a:lnTo>
                    <a:pt x="712441" y="202074"/>
                  </a:lnTo>
                  <a:lnTo>
                    <a:pt x="0" y="2020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AutoShape 90" id="90"/>
            <p:cNvSpPr/>
            <p:nvPr/>
          </p:nvSpPr>
          <p:spPr>
            <a:xfrm>
              <a:off x="262898" y="1286005"/>
              <a:ext cx="693260" cy="0"/>
            </a:xfrm>
            <a:prstGeom prst="line">
              <a:avLst/>
            </a:prstGeom>
            <a:ln cap="flat" w="50800">
              <a:solidFill>
                <a:srgbClr val="000000"/>
              </a:solidFill>
              <a:prstDash val="solid"/>
              <a:headEnd type="none" len="sm" w="sm"/>
              <a:tailEnd type="none" len="sm" w="sm"/>
            </a:ln>
          </p:spPr>
        </p:sp>
        <p:sp>
          <p:nvSpPr>
            <p:cNvPr name="AutoShape 91" id="91"/>
            <p:cNvSpPr/>
            <p:nvPr/>
          </p:nvSpPr>
          <p:spPr>
            <a:xfrm flipV="true">
              <a:off x="975339" y="624114"/>
              <a:ext cx="0" cy="807647"/>
            </a:xfrm>
            <a:prstGeom prst="line">
              <a:avLst/>
            </a:prstGeom>
            <a:ln cap="flat" w="50800">
              <a:solidFill>
                <a:srgbClr val="000000"/>
              </a:solidFill>
              <a:prstDash val="solid"/>
              <a:headEnd type="none" len="sm" w="sm"/>
              <a:tailEnd type="none" len="sm" w="sm"/>
            </a:ln>
          </p:spPr>
        </p:sp>
        <p:sp>
          <p:nvSpPr>
            <p:cNvPr name="AutoShape 92" id="92"/>
            <p:cNvSpPr/>
            <p:nvPr/>
          </p:nvSpPr>
          <p:spPr>
            <a:xfrm flipV="true">
              <a:off x="288298" y="0"/>
              <a:ext cx="0" cy="807647"/>
            </a:xfrm>
            <a:prstGeom prst="line">
              <a:avLst/>
            </a:prstGeom>
            <a:ln cap="flat" w="50800">
              <a:solidFill>
                <a:srgbClr val="000000"/>
              </a:solidFill>
              <a:prstDash val="solid"/>
              <a:headEnd type="none" len="sm" w="sm"/>
              <a:tailEnd type="none" len="sm" w="sm"/>
            </a:ln>
          </p:spPr>
        </p:sp>
        <p:sp>
          <p:nvSpPr>
            <p:cNvPr name="AutoShape 93" id="93"/>
            <p:cNvSpPr/>
            <p:nvPr/>
          </p:nvSpPr>
          <p:spPr>
            <a:xfrm flipV="true">
              <a:off x="288298" y="1260605"/>
              <a:ext cx="0" cy="807647"/>
            </a:xfrm>
            <a:prstGeom prst="line">
              <a:avLst/>
            </a:prstGeom>
            <a:ln cap="flat" w="50800">
              <a:solidFill>
                <a:srgbClr val="000000"/>
              </a:solidFill>
              <a:prstDash val="solid"/>
              <a:headEnd type="none" len="sm" w="sm"/>
              <a:tailEnd type="none" len="sm" w="sm"/>
            </a:ln>
          </p:spPr>
        </p:sp>
        <p:sp>
          <p:nvSpPr>
            <p:cNvPr name="AutoShape 94" id="94"/>
            <p:cNvSpPr/>
            <p:nvPr/>
          </p:nvSpPr>
          <p:spPr>
            <a:xfrm flipH="true" flipV="true">
              <a:off x="975339" y="1027938"/>
              <a:ext cx="807647" cy="0"/>
            </a:xfrm>
            <a:prstGeom prst="line">
              <a:avLst/>
            </a:prstGeom>
            <a:ln cap="flat" w="50800">
              <a:solidFill>
                <a:srgbClr val="000000"/>
              </a:solidFill>
              <a:prstDash val="solid"/>
              <a:headEnd type="none" len="sm" w="sm"/>
              <a:tailEnd type="none" len="sm" w="sm"/>
            </a:ln>
          </p:spPr>
        </p:sp>
        <p:sp>
          <p:nvSpPr>
            <p:cNvPr name="TextBox 95" id="95"/>
            <p:cNvSpPr txBox="true"/>
            <p:nvPr/>
          </p:nvSpPr>
          <p:spPr>
            <a:xfrm rot="0">
              <a:off x="0" y="44450"/>
              <a:ext cx="167755" cy="313393"/>
            </a:xfrm>
            <a:prstGeom prst="rect">
              <a:avLst/>
            </a:prstGeom>
          </p:spPr>
          <p:txBody>
            <a:bodyPr anchor="t" rtlCol="false" tIns="0" lIns="0" bIns="0" rIns="0">
              <a:spAutoFit/>
            </a:bodyPr>
            <a:lstStyle/>
            <a:p>
              <a:pPr algn="ctr">
                <a:lnSpc>
                  <a:spcPts val="2063"/>
                </a:lnSpc>
                <a:spcBef>
                  <a:spcPct val="0"/>
                </a:spcBef>
              </a:pPr>
              <a:r>
                <a:rPr lang="en-US" sz="1474">
                  <a:solidFill>
                    <a:srgbClr val="000000"/>
                  </a:solidFill>
                  <a:latin typeface="League Spartan"/>
                  <a:ea typeface="League Spartan"/>
                  <a:cs typeface="League Spartan"/>
                  <a:sym typeface="League Spartan"/>
                </a:rPr>
                <a:t>S</a:t>
              </a:r>
            </a:p>
          </p:txBody>
        </p:sp>
      </p:grpSp>
      <p:grpSp>
        <p:nvGrpSpPr>
          <p:cNvPr name="Group 96" id="96"/>
          <p:cNvGrpSpPr/>
          <p:nvPr/>
        </p:nvGrpSpPr>
        <p:grpSpPr>
          <a:xfrm rot="0">
            <a:off x="10155854" y="1182534"/>
            <a:ext cx="1307139" cy="1564244"/>
            <a:chOff x="0" y="0"/>
            <a:chExt cx="1742851" cy="2085658"/>
          </a:xfrm>
        </p:grpSpPr>
        <p:sp>
          <p:nvSpPr>
            <p:cNvPr name="Freeform 97" id="97"/>
            <p:cNvSpPr/>
            <p:nvPr/>
          </p:nvSpPr>
          <p:spPr>
            <a:xfrm flipH="false" flipV="false" rot="-10800000">
              <a:off x="779820" y="702282"/>
              <a:ext cx="712441" cy="202074"/>
            </a:xfrm>
            <a:custGeom>
              <a:avLst/>
              <a:gdLst/>
              <a:ahLst/>
              <a:cxnLst/>
              <a:rect r="r" b="b" t="t" l="l"/>
              <a:pathLst>
                <a:path h="202074" w="712441">
                  <a:moveTo>
                    <a:pt x="0" y="0"/>
                  </a:moveTo>
                  <a:lnTo>
                    <a:pt x="712441" y="0"/>
                  </a:lnTo>
                  <a:lnTo>
                    <a:pt x="712441" y="202074"/>
                  </a:lnTo>
                  <a:lnTo>
                    <a:pt x="0" y="2020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AutoShape 98" id="98"/>
            <p:cNvSpPr/>
            <p:nvPr/>
          </p:nvSpPr>
          <p:spPr>
            <a:xfrm>
              <a:off x="799001" y="1292587"/>
              <a:ext cx="693260" cy="0"/>
            </a:xfrm>
            <a:prstGeom prst="line">
              <a:avLst/>
            </a:prstGeom>
            <a:ln cap="flat" w="48318">
              <a:solidFill>
                <a:srgbClr val="000000"/>
              </a:solidFill>
              <a:prstDash val="solid"/>
              <a:headEnd type="none" len="sm" w="sm"/>
              <a:tailEnd type="none" len="sm" w="sm"/>
            </a:ln>
          </p:spPr>
        </p:sp>
        <p:sp>
          <p:nvSpPr>
            <p:cNvPr name="AutoShape 99" id="99"/>
            <p:cNvSpPr/>
            <p:nvPr/>
          </p:nvSpPr>
          <p:spPr>
            <a:xfrm flipV="true">
              <a:off x="799001" y="654193"/>
              <a:ext cx="0" cy="807647"/>
            </a:xfrm>
            <a:prstGeom prst="line">
              <a:avLst/>
            </a:prstGeom>
            <a:ln cap="flat" w="48318">
              <a:solidFill>
                <a:srgbClr val="000000"/>
              </a:solidFill>
              <a:prstDash val="solid"/>
              <a:headEnd type="none" len="sm" w="sm"/>
              <a:tailEnd type="none" len="sm" w="sm"/>
            </a:ln>
          </p:spPr>
        </p:sp>
        <p:sp>
          <p:nvSpPr>
            <p:cNvPr name="AutoShape 100" id="100"/>
            <p:cNvSpPr/>
            <p:nvPr/>
          </p:nvSpPr>
          <p:spPr>
            <a:xfrm flipV="true">
              <a:off x="1468102" y="0"/>
              <a:ext cx="0" cy="807647"/>
            </a:xfrm>
            <a:prstGeom prst="line">
              <a:avLst/>
            </a:prstGeom>
            <a:ln cap="flat" w="48318">
              <a:solidFill>
                <a:srgbClr val="000000"/>
              </a:solidFill>
              <a:prstDash val="solid"/>
              <a:headEnd type="none" len="sm" w="sm"/>
              <a:tailEnd type="none" len="sm" w="sm"/>
            </a:ln>
          </p:spPr>
        </p:sp>
        <p:sp>
          <p:nvSpPr>
            <p:cNvPr name="AutoShape 101" id="101"/>
            <p:cNvSpPr/>
            <p:nvPr/>
          </p:nvSpPr>
          <p:spPr>
            <a:xfrm flipV="true">
              <a:off x="1492261" y="1278011"/>
              <a:ext cx="0" cy="807647"/>
            </a:xfrm>
            <a:prstGeom prst="line">
              <a:avLst/>
            </a:prstGeom>
            <a:ln cap="flat" w="48318">
              <a:solidFill>
                <a:srgbClr val="000000"/>
              </a:solidFill>
              <a:prstDash val="solid"/>
              <a:headEnd type="none" len="sm" w="sm"/>
              <a:tailEnd type="none" len="sm" w="sm"/>
            </a:ln>
          </p:spPr>
        </p:sp>
        <p:sp>
          <p:nvSpPr>
            <p:cNvPr name="AutoShape 102" id="102"/>
            <p:cNvSpPr/>
            <p:nvPr/>
          </p:nvSpPr>
          <p:spPr>
            <a:xfrm flipH="true" flipV="true">
              <a:off x="0" y="1051527"/>
              <a:ext cx="807647" cy="0"/>
            </a:xfrm>
            <a:prstGeom prst="line">
              <a:avLst/>
            </a:prstGeom>
            <a:ln cap="flat" w="48318">
              <a:solidFill>
                <a:srgbClr val="000000"/>
              </a:solidFill>
              <a:prstDash val="solid"/>
              <a:headEnd type="none" len="sm" w="sm"/>
              <a:tailEnd type="none" len="sm" w="sm"/>
            </a:ln>
          </p:spPr>
        </p:sp>
        <p:sp>
          <p:nvSpPr>
            <p:cNvPr name="TextBox 103" id="103"/>
            <p:cNvSpPr txBox="true"/>
            <p:nvPr/>
          </p:nvSpPr>
          <p:spPr>
            <a:xfrm rot="0">
              <a:off x="0" y="738134"/>
              <a:ext cx="206938" cy="313393"/>
            </a:xfrm>
            <a:prstGeom prst="rect">
              <a:avLst/>
            </a:prstGeom>
          </p:spPr>
          <p:txBody>
            <a:bodyPr anchor="t" rtlCol="false" tIns="0" lIns="0" bIns="0" rIns="0">
              <a:spAutoFit/>
            </a:bodyPr>
            <a:lstStyle/>
            <a:p>
              <a:pPr algn="ctr">
                <a:lnSpc>
                  <a:spcPts val="2063"/>
                </a:lnSpc>
                <a:spcBef>
                  <a:spcPct val="0"/>
                </a:spcBef>
              </a:pPr>
              <a:r>
                <a:rPr lang="en-US" sz="1474">
                  <a:solidFill>
                    <a:srgbClr val="000000"/>
                  </a:solidFill>
                  <a:latin typeface="League Spartan"/>
                  <a:ea typeface="League Spartan"/>
                  <a:cs typeface="League Spartan"/>
                  <a:sym typeface="League Spartan"/>
                </a:rPr>
                <a:t>G</a:t>
              </a:r>
            </a:p>
          </p:txBody>
        </p:sp>
        <p:sp>
          <p:nvSpPr>
            <p:cNvPr name="TextBox 104" id="104"/>
            <p:cNvSpPr txBox="true"/>
            <p:nvPr/>
          </p:nvSpPr>
          <p:spPr>
            <a:xfrm rot="0">
              <a:off x="1558562" y="1772265"/>
              <a:ext cx="184289" cy="313393"/>
            </a:xfrm>
            <a:prstGeom prst="rect">
              <a:avLst/>
            </a:prstGeom>
          </p:spPr>
          <p:txBody>
            <a:bodyPr anchor="t" rtlCol="false" tIns="0" lIns="0" bIns="0" rIns="0">
              <a:spAutoFit/>
            </a:bodyPr>
            <a:lstStyle/>
            <a:p>
              <a:pPr algn="ctr">
                <a:lnSpc>
                  <a:spcPts val="2063"/>
                </a:lnSpc>
                <a:spcBef>
                  <a:spcPct val="0"/>
                </a:spcBef>
              </a:pPr>
              <a:r>
                <a:rPr lang="en-US" sz="1474">
                  <a:solidFill>
                    <a:srgbClr val="000000"/>
                  </a:solidFill>
                  <a:latin typeface="League Spartan"/>
                  <a:ea typeface="League Spartan"/>
                  <a:cs typeface="League Spartan"/>
                  <a:sym typeface="League Spartan"/>
                </a:rPr>
                <a:t>D</a:t>
              </a:r>
            </a:p>
          </p:txBody>
        </p:sp>
        <p:sp>
          <p:nvSpPr>
            <p:cNvPr name="TextBox 105" id="105"/>
            <p:cNvSpPr txBox="true"/>
            <p:nvPr/>
          </p:nvSpPr>
          <p:spPr>
            <a:xfrm rot="0">
              <a:off x="1558562" y="41234"/>
              <a:ext cx="167755" cy="313393"/>
            </a:xfrm>
            <a:prstGeom prst="rect">
              <a:avLst/>
            </a:prstGeom>
          </p:spPr>
          <p:txBody>
            <a:bodyPr anchor="t" rtlCol="false" tIns="0" lIns="0" bIns="0" rIns="0">
              <a:spAutoFit/>
            </a:bodyPr>
            <a:lstStyle/>
            <a:p>
              <a:pPr algn="ctr">
                <a:lnSpc>
                  <a:spcPts val="2063"/>
                </a:lnSpc>
                <a:spcBef>
                  <a:spcPct val="0"/>
                </a:spcBef>
              </a:pPr>
              <a:r>
                <a:rPr lang="en-US" sz="1474">
                  <a:solidFill>
                    <a:srgbClr val="000000"/>
                  </a:solidFill>
                  <a:latin typeface="League Spartan"/>
                  <a:ea typeface="League Spartan"/>
                  <a:cs typeface="League Spartan"/>
                  <a:sym typeface="League Spartan"/>
                </a:rPr>
                <a:t>S</a:t>
              </a:r>
            </a:p>
          </p:txBody>
        </p:sp>
      </p:grpSp>
      <p:sp>
        <p:nvSpPr>
          <p:cNvPr name="AutoShape 106" id="106"/>
          <p:cNvSpPr/>
          <p:nvPr/>
        </p:nvSpPr>
        <p:spPr>
          <a:xfrm flipV="true">
            <a:off x="9883303" y="2755608"/>
            <a:ext cx="2701231" cy="3726"/>
          </a:xfrm>
          <a:prstGeom prst="line">
            <a:avLst/>
          </a:prstGeom>
          <a:ln cap="flat" w="38100">
            <a:solidFill>
              <a:srgbClr val="000000"/>
            </a:solidFill>
            <a:prstDash val="solid"/>
            <a:headEnd type="none" len="sm" w="sm"/>
            <a:tailEnd type="none" len="sm" w="sm"/>
          </a:ln>
        </p:spPr>
      </p:sp>
      <p:grpSp>
        <p:nvGrpSpPr>
          <p:cNvPr name="Group 107" id="107"/>
          <p:cNvGrpSpPr/>
          <p:nvPr/>
        </p:nvGrpSpPr>
        <p:grpSpPr>
          <a:xfrm rot="0">
            <a:off x="11049625" y="461565"/>
            <a:ext cx="422892" cy="268259"/>
            <a:chOff x="0" y="0"/>
            <a:chExt cx="812800" cy="515595"/>
          </a:xfrm>
        </p:grpSpPr>
        <p:sp>
          <p:nvSpPr>
            <p:cNvPr name="Freeform 108" id="108"/>
            <p:cNvSpPr/>
            <p:nvPr/>
          </p:nvSpPr>
          <p:spPr>
            <a:xfrm flipH="false" flipV="false" rot="0">
              <a:off x="0" y="0"/>
              <a:ext cx="812800" cy="515595"/>
            </a:xfrm>
            <a:custGeom>
              <a:avLst/>
              <a:gdLst/>
              <a:ahLst/>
              <a:cxnLst/>
              <a:rect r="r" b="b" t="t" l="l"/>
              <a:pathLst>
                <a:path h="515595" w="812800">
                  <a:moveTo>
                    <a:pt x="406400" y="0"/>
                  </a:moveTo>
                  <a:lnTo>
                    <a:pt x="812800" y="515595"/>
                  </a:lnTo>
                  <a:lnTo>
                    <a:pt x="0" y="515595"/>
                  </a:lnTo>
                  <a:lnTo>
                    <a:pt x="406400" y="0"/>
                  </a:lnTo>
                  <a:close/>
                </a:path>
              </a:pathLst>
            </a:custGeom>
            <a:ln w="38100" cap="sq">
              <a:solidFill>
                <a:srgbClr val="000000"/>
              </a:solidFill>
              <a:prstDash val="solid"/>
              <a:miter/>
            </a:ln>
          </p:spPr>
        </p:sp>
        <p:sp>
          <p:nvSpPr>
            <p:cNvPr name="TextBox 109" id="109"/>
            <p:cNvSpPr txBox="true"/>
            <p:nvPr/>
          </p:nvSpPr>
          <p:spPr>
            <a:xfrm>
              <a:off x="127000" y="220333"/>
              <a:ext cx="558800" cy="258433"/>
            </a:xfrm>
            <a:prstGeom prst="rect">
              <a:avLst/>
            </a:prstGeom>
          </p:spPr>
          <p:txBody>
            <a:bodyPr anchor="ctr" rtlCol="false" tIns="44617" lIns="44617" bIns="44617" rIns="44617"/>
            <a:lstStyle/>
            <a:p>
              <a:pPr algn="ctr">
                <a:lnSpc>
                  <a:spcPts val="2072"/>
                </a:lnSpc>
              </a:pPr>
            </a:p>
          </p:txBody>
        </p:sp>
      </p:grpSp>
      <p:sp>
        <p:nvSpPr>
          <p:cNvPr name="AutoShape 110" id="110"/>
          <p:cNvSpPr/>
          <p:nvPr/>
        </p:nvSpPr>
        <p:spPr>
          <a:xfrm flipV="true">
            <a:off x="11261071" y="729824"/>
            <a:ext cx="0" cy="497803"/>
          </a:xfrm>
          <a:prstGeom prst="line">
            <a:avLst/>
          </a:prstGeom>
          <a:ln cap="flat" w="38100">
            <a:solidFill>
              <a:srgbClr val="000000"/>
            </a:solidFill>
            <a:prstDash val="solid"/>
            <a:headEnd type="none" len="sm" w="sm"/>
            <a:tailEnd type="none" len="sm" w="sm"/>
          </a:ln>
        </p:spPr>
      </p:sp>
      <p:grpSp>
        <p:nvGrpSpPr>
          <p:cNvPr name="Group 111" id="111"/>
          <p:cNvGrpSpPr/>
          <p:nvPr/>
        </p:nvGrpSpPr>
        <p:grpSpPr>
          <a:xfrm rot="0">
            <a:off x="5478070" y="3851640"/>
            <a:ext cx="481493" cy="872216"/>
            <a:chOff x="0" y="0"/>
            <a:chExt cx="641990" cy="1162955"/>
          </a:xfrm>
        </p:grpSpPr>
        <p:grpSp>
          <p:nvGrpSpPr>
            <p:cNvPr name="Group 112" id="112"/>
            <p:cNvGrpSpPr/>
            <p:nvPr/>
          </p:nvGrpSpPr>
          <p:grpSpPr>
            <a:xfrm rot="0">
              <a:off x="0" y="0"/>
              <a:ext cx="641990" cy="407243"/>
              <a:chOff x="0" y="0"/>
              <a:chExt cx="812800" cy="515595"/>
            </a:xfrm>
          </p:grpSpPr>
          <p:sp>
            <p:nvSpPr>
              <p:cNvPr name="Freeform 113" id="113"/>
              <p:cNvSpPr/>
              <p:nvPr/>
            </p:nvSpPr>
            <p:spPr>
              <a:xfrm flipH="false" flipV="false" rot="0">
                <a:off x="0" y="0"/>
                <a:ext cx="812800" cy="515595"/>
              </a:xfrm>
              <a:custGeom>
                <a:avLst/>
                <a:gdLst/>
                <a:ahLst/>
                <a:cxnLst/>
                <a:rect r="r" b="b" t="t" l="l"/>
                <a:pathLst>
                  <a:path h="515595" w="812800">
                    <a:moveTo>
                      <a:pt x="406400" y="0"/>
                    </a:moveTo>
                    <a:lnTo>
                      <a:pt x="812800" y="515595"/>
                    </a:lnTo>
                    <a:lnTo>
                      <a:pt x="0" y="515595"/>
                    </a:lnTo>
                    <a:lnTo>
                      <a:pt x="406400" y="0"/>
                    </a:lnTo>
                    <a:close/>
                  </a:path>
                </a:pathLst>
              </a:custGeom>
              <a:ln w="38100" cap="sq">
                <a:solidFill>
                  <a:srgbClr val="000000"/>
                </a:solidFill>
                <a:prstDash val="solid"/>
                <a:miter/>
              </a:ln>
            </p:spPr>
          </p:sp>
          <p:sp>
            <p:nvSpPr>
              <p:cNvPr name="TextBox 114" id="114"/>
              <p:cNvSpPr txBox="true"/>
              <p:nvPr/>
            </p:nvSpPr>
            <p:spPr>
              <a:xfrm>
                <a:off x="127000" y="220333"/>
                <a:ext cx="558800" cy="258433"/>
              </a:xfrm>
              <a:prstGeom prst="rect">
                <a:avLst/>
              </a:prstGeom>
            </p:spPr>
            <p:txBody>
              <a:bodyPr anchor="ctr" rtlCol="false" tIns="50800" lIns="50800" bIns="50800" rIns="50800"/>
              <a:lstStyle/>
              <a:p>
                <a:pPr algn="ctr">
                  <a:lnSpc>
                    <a:spcPts val="2072"/>
                  </a:lnSpc>
                </a:pPr>
              </a:p>
            </p:txBody>
          </p:sp>
        </p:grpSp>
        <p:sp>
          <p:nvSpPr>
            <p:cNvPr name="AutoShape 115" id="115"/>
            <p:cNvSpPr/>
            <p:nvPr/>
          </p:nvSpPr>
          <p:spPr>
            <a:xfrm flipV="true">
              <a:off x="320995" y="407243"/>
              <a:ext cx="0" cy="755712"/>
            </a:xfrm>
            <a:prstGeom prst="line">
              <a:avLst/>
            </a:prstGeom>
            <a:ln cap="flat" w="50800">
              <a:solidFill>
                <a:srgbClr val="000000"/>
              </a:solidFill>
              <a:prstDash val="solid"/>
              <a:headEnd type="none" len="sm" w="sm"/>
              <a:tailEnd type="none" len="sm" w="sm"/>
            </a:ln>
          </p:spPr>
        </p:sp>
      </p:grpSp>
      <p:sp>
        <p:nvSpPr>
          <p:cNvPr name="TextBox 116" id="116"/>
          <p:cNvSpPr txBox="true"/>
          <p:nvPr/>
        </p:nvSpPr>
        <p:spPr>
          <a:xfrm rot="0">
            <a:off x="10004604" y="7735020"/>
            <a:ext cx="126553" cy="221178"/>
          </a:xfrm>
          <a:prstGeom prst="rect">
            <a:avLst/>
          </a:prstGeom>
        </p:spPr>
        <p:txBody>
          <a:bodyPr anchor="t" rtlCol="false" tIns="0" lIns="0" bIns="0" rIns="0">
            <a:spAutoFit/>
          </a:bodyPr>
          <a:lstStyle/>
          <a:p>
            <a:pPr algn="ctr">
              <a:lnSpc>
                <a:spcPts val="1889"/>
              </a:lnSpc>
              <a:spcBef>
                <a:spcPct val="0"/>
              </a:spcBef>
            </a:pPr>
            <a:r>
              <a:rPr lang="en-US" sz="1349">
                <a:solidFill>
                  <a:srgbClr val="000000"/>
                </a:solidFill>
                <a:latin typeface="League Spartan"/>
                <a:ea typeface="League Spartan"/>
                <a:cs typeface="League Spartan"/>
                <a:sym typeface="League Spartan"/>
              </a:rPr>
              <a:t>D</a:t>
            </a:r>
          </a:p>
        </p:txBody>
      </p:sp>
      <p:sp>
        <p:nvSpPr>
          <p:cNvPr name="TextBox 117" id="117"/>
          <p:cNvSpPr txBox="true"/>
          <p:nvPr/>
        </p:nvSpPr>
        <p:spPr>
          <a:xfrm rot="0">
            <a:off x="10048496" y="8967188"/>
            <a:ext cx="115199" cy="221178"/>
          </a:xfrm>
          <a:prstGeom prst="rect">
            <a:avLst/>
          </a:prstGeom>
        </p:spPr>
        <p:txBody>
          <a:bodyPr anchor="t" rtlCol="false" tIns="0" lIns="0" bIns="0" rIns="0">
            <a:spAutoFit/>
          </a:bodyPr>
          <a:lstStyle/>
          <a:p>
            <a:pPr algn="ctr">
              <a:lnSpc>
                <a:spcPts val="1889"/>
              </a:lnSpc>
              <a:spcBef>
                <a:spcPct val="0"/>
              </a:spcBef>
            </a:pPr>
            <a:r>
              <a:rPr lang="en-US" sz="1349">
                <a:solidFill>
                  <a:srgbClr val="000000"/>
                </a:solidFill>
                <a:latin typeface="League Spartan"/>
                <a:ea typeface="League Spartan"/>
                <a:cs typeface="League Spartan"/>
                <a:sym typeface="League Spartan"/>
              </a:rPr>
              <a:t>S</a:t>
            </a:r>
          </a:p>
        </p:txBody>
      </p:sp>
      <p:sp>
        <p:nvSpPr>
          <p:cNvPr name="TextBox 118" id="118"/>
          <p:cNvSpPr txBox="true"/>
          <p:nvPr/>
        </p:nvSpPr>
        <p:spPr>
          <a:xfrm rot="0">
            <a:off x="5542892" y="5835943"/>
            <a:ext cx="125999" cy="220293"/>
          </a:xfrm>
          <a:prstGeom prst="rect">
            <a:avLst/>
          </a:prstGeom>
        </p:spPr>
        <p:txBody>
          <a:bodyPr anchor="t" rtlCol="false" tIns="0" lIns="0" bIns="0" rIns="0">
            <a:spAutoFit/>
          </a:bodyPr>
          <a:lstStyle/>
          <a:p>
            <a:pPr algn="ctr">
              <a:lnSpc>
                <a:spcPts val="1881"/>
              </a:lnSpc>
              <a:spcBef>
                <a:spcPct val="0"/>
              </a:spcBef>
            </a:pPr>
            <a:r>
              <a:rPr lang="en-US" sz="1343">
                <a:solidFill>
                  <a:srgbClr val="000000"/>
                </a:solidFill>
                <a:latin typeface="League Spartan"/>
                <a:ea typeface="League Spartan"/>
                <a:cs typeface="League Spartan"/>
                <a:sym typeface="League Spartan"/>
              </a:rPr>
              <a:t>D</a:t>
            </a:r>
          </a:p>
        </p:txBody>
      </p:sp>
      <p:sp>
        <p:nvSpPr>
          <p:cNvPr name="TextBox 119" id="119"/>
          <p:cNvSpPr txBox="true"/>
          <p:nvPr/>
        </p:nvSpPr>
        <p:spPr>
          <a:xfrm rot="0">
            <a:off x="5562222" y="7080605"/>
            <a:ext cx="114694" cy="220293"/>
          </a:xfrm>
          <a:prstGeom prst="rect">
            <a:avLst/>
          </a:prstGeom>
        </p:spPr>
        <p:txBody>
          <a:bodyPr anchor="t" rtlCol="false" tIns="0" lIns="0" bIns="0" rIns="0">
            <a:spAutoFit/>
          </a:bodyPr>
          <a:lstStyle/>
          <a:p>
            <a:pPr algn="ctr">
              <a:lnSpc>
                <a:spcPts val="1881"/>
              </a:lnSpc>
              <a:spcBef>
                <a:spcPct val="0"/>
              </a:spcBef>
            </a:pPr>
            <a:r>
              <a:rPr lang="en-US" sz="1343">
                <a:solidFill>
                  <a:srgbClr val="000000"/>
                </a:solidFill>
                <a:latin typeface="League Spartan"/>
                <a:ea typeface="League Spartan"/>
                <a:cs typeface="League Spartan"/>
                <a:sym typeface="League Spartan"/>
              </a:rPr>
              <a:t>S</a:t>
            </a:r>
          </a:p>
        </p:txBody>
      </p:sp>
      <p:sp>
        <p:nvSpPr>
          <p:cNvPr name="TextBox 120" id="120"/>
          <p:cNvSpPr txBox="true"/>
          <p:nvPr/>
        </p:nvSpPr>
        <p:spPr>
          <a:xfrm rot="0">
            <a:off x="9987238" y="5846254"/>
            <a:ext cx="126553" cy="221178"/>
          </a:xfrm>
          <a:prstGeom prst="rect">
            <a:avLst/>
          </a:prstGeom>
        </p:spPr>
        <p:txBody>
          <a:bodyPr anchor="t" rtlCol="false" tIns="0" lIns="0" bIns="0" rIns="0">
            <a:spAutoFit/>
          </a:bodyPr>
          <a:lstStyle/>
          <a:p>
            <a:pPr algn="ctr">
              <a:lnSpc>
                <a:spcPts val="1889"/>
              </a:lnSpc>
              <a:spcBef>
                <a:spcPct val="0"/>
              </a:spcBef>
            </a:pPr>
            <a:r>
              <a:rPr lang="en-US" sz="1349">
                <a:solidFill>
                  <a:srgbClr val="000000"/>
                </a:solidFill>
                <a:latin typeface="League Spartan"/>
                <a:ea typeface="League Spartan"/>
                <a:cs typeface="League Spartan"/>
                <a:sym typeface="League Spartan"/>
              </a:rPr>
              <a:t>D</a:t>
            </a:r>
          </a:p>
        </p:txBody>
      </p:sp>
      <p:sp>
        <p:nvSpPr>
          <p:cNvPr name="TextBox 121" id="121"/>
          <p:cNvSpPr txBox="true"/>
          <p:nvPr/>
        </p:nvSpPr>
        <p:spPr>
          <a:xfrm rot="0">
            <a:off x="10031130" y="7078422"/>
            <a:ext cx="115199" cy="221178"/>
          </a:xfrm>
          <a:prstGeom prst="rect">
            <a:avLst/>
          </a:prstGeom>
        </p:spPr>
        <p:txBody>
          <a:bodyPr anchor="t" rtlCol="false" tIns="0" lIns="0" bIns="0" rIns="0">
            <a:spAutoFit/>
          </a:bodyPr>
          <a:lstStyle/>
          <a:p>
            <a:pPr algn="ctr">
              <a:lnSpc>
                <a:spcPts val="1889"/>
              </a:lnSpc>
              <a:spcBef>
                <a:spcPct val="0"/>
              </a:spcBef>
            </a:pPr>
            <a:r>
              <a:rPr lang="en-US" sz="1349">
                <a:solidFill>
                  <a:srgbClr val="000000"/>
                </a:solidFill>
                <a:latin typeface="League Spartan"/>
                <a:ea typeface="League Spartan"/>
                <a:cs typeface="League Spartan"/>
                <a:sym typeface="League Spartan"/>
              </a:rPr>
              <a:t>S</a:t>
            </a:r>
          </a:p>
        </p:txBody>
      </p:sp>
      <p:sp>
        <p:nvSpPr>
          <p:cNvPr name="TextBox 122" id="122"/>
          <p:cNvSpPr txBox="true"/>
          <p:nvPr/>
        </p:nvSpPr>
        <p:spPr>
          <a:xfrm rot="0">
            <a:off x="12648060" y="7735020"/>
            <a:ext cx="126553" cy="221178"/>
          </a:xfrm>
          <a:prstGeom prst="rect">
            <a:avLst/>
          </a:prstGeom>
        </p:spPr>
        <p:txBody>
          <a:bodyPr anchor="t" rtlCol="false" tIns="0" lIns="0" bIns="0" rIns="0">
            <a:spAutoFit/>
          </a:bodyPr>
          <a:lstStyle/>
          <a:p>
            <a:pPr algn="ctr">
              <a:lnSpc>
                <a:spcPts val="1889"/>
              </a:lnSpc>
              <a:spcBef>
                <a:spcPct val="0"/>
              </a:spcBef>
            </a:pPr>
            <a:r>
              <a:rPr lang="en-US" sz="1349">
                <a:solidFill>
                  <a:srgbClr val="000000"/>
                </a:solidFill>
                <a:latin typeface="League Spartan"/>
                <a:ea typeface="League Spartan"/>
                <a:cs typeface="League Spartan"/>
                <a:sym typeface="League Spartan"/>
              </a:rPr>
              <a:t>D</a:t>
            </a:r>
          </a:p>
        </p:txBody>
      </p:sp>
      <p:sp>
        <p:nvSpPr>
          <p:cNvPr name="TextBox 123" id="123"/>
          <p:cNvSpPr txBox="true"/>
          <p:nvPr/>
        </p:nvSpPr>
        <p:spPr>
          <a:xfrm rot="0">
            <a:off x="12691952" y="8967188"/>
            <a:ext cx="115199" cy="221178"/>
          </a:xfrm>
          <a:prstGeom prst="rect">
            <a:avLst/>
          </a:prstGeom>
        </p:spPr>
        <p:txBody>
          <a:bodyPr anchor="t" rtlCol="false" tIns="0" lIns="0" bIns="0" rIns="0">
            <a:spAutoFit/>
          </a:bodyPr>
          <a:lstStyle/>
          <a:p>
            <a:pPr algn="ctr">
              <a:lnSpc>
                <a:spcPts val="1889"/>
              </a:lnSpc>
              <a:spcBef>
                <a:spcPct val="0"/>
              </a:spcBef>
            </a:pPr>
            <a:r>
              <a:rPr lang="en-US" sz="1349">
                <a:solidFill>
                  <a:srgbClr val="000000"/>
                </a:solidFill>
                <a:latin typeface="League Spartan"/>
                <a:ea typeface="League Spartan"/>
                <a:cs typeface="League Spartan"/>
                <a:sym typeface="League Spartan"/>
              </a:rPr>
              <a:t>S</a:t>
            </a:r>
          </a:p>
        </p:txBody>
      </p:sp>
      <p:sp>
        <p:nvSpPr>
          <p:cNvPr name="TextBox 124" id="124"/>
          <p:cNvSpPr txBox="true"/>
          <p:nvPr/>
        </p:nvSpPr>
        <p:spPr>
          <a:xfrm rot="0">
            <a:off x="12634169" y="5852985"/>
            <a:ext cx="126553" cy="221178"/>
          </a:xfrm>
          <a:prstGeom prst="rect">
            <a:avLst/>
          </a:prstGeom>
        </p:spPr>
        <p:txBody>
          <a:bodyPr anchor="t" rtlCol="false" tIns="0" lIns="0" bIns="0" rIns="0">
            <a:spAutoFit/>
          </a:bodyPr>
          <a:lstStyle/>
          <a:p>
            <a:pPr algn="ctr">
              <a:lnSpc>
                <a:spcPts val="1889"/>
              </a:lnSpc>
              <a:spcBef>
                <a:spcPct val="0"/>
              </a:spcBef>
            </a:pPr>
            <a:r>
              <a:rPr lang="en-US" sz="1349">
                <a:solidFill>
                  <a:srgbClr val="000000"/>
                </a:solidFill>
                <a:latin typeface="League Spartan"/>
                <a:ea typeface="League Spartan"/>
                <a:cs typeface="League Spartan"/>
                <a:sym typeface="League Spartan"/>
              </a:rPr>
              <a:t>D</a:t>
            </a:r>
          </a:p>
        </p:txBody>
      </p:sp>
      <p:sp>
        <p:nvSpPr>
          <p:cNvPr name="TextBox 125" id="125"/>
          <p:cNvSpPr txBox="true"/>
          <p:nvPr/>
        </p:nvSpPr>
        <p:spPr>
          <a:xfrm rot="0">
            <a:off x="12678060" y="7085153"/>
            <a:ext cx="115199" cy="221178"/>
          </a:xfrm>
          <a:prstGeom prst="rect">
            <a:avLst/>
          </a:prstGeom>
        </p:spPr>
        <p:txBody>
          <a:bodyPr anchor="t" rtlCol="false" tIns="0" lIns="0" bIns="0" rIns="0">
            <a:spAutoFit/>
          </a:bodyPr>
          <a:lstStyle/>
          <a:p>
            <a:pPr algn="ctr">
              <a:lnSpc>
                <a:spcPts val="1889"/>
              </a:lnSpc>
              <a:spcBef>
                <a:spcPct val="0"/>
              </a:spcBef>
            </a:pPr>
            <a:r>
              <a:rPr lang="en-US" sz="1349">
                <a:solidFill>
                  <a:srgbClr val="000000"/>
                </a:solidFill>
                <a:latin typeface="League Spartan"/>
                <a:ea typeface="League Spartan"/>
                <a:cs typeface="League Spartan"/>
                <a:sym typeface="League Spartan"/>
              </a:rPr>
              <a:t>S</a:t>
            </a:r>
          </a:p>
        </p:txBody>
      </p:sp>
      <p:sp>
        <p:nvSpPr>
          <p:cNvPr name="TextBox 126" id="126"/>
          <p:cNvSpPr txBox="true"/>
          <p:nvPr/>
        </p:nvSpPr>
        <p:spPr>
          <a:xfrm rot="0">
            <a:off x="13541007" y="5291895"/>
            <a:ext cx="1390288" cy="470765"/>
          </a:xfrm>
          <a:prstGeom prst="rect">
            <a:avLst/>
          </a:prstGeom>
        </p:spPr>
        <p:txBody>
          <a:bodyPr anchor="t" rtlCol="false" tIns="0" lIns="0" bIns="0" rIns="0">
            <a:spAutoFit/>
          </a:bodyPr>
          <a:lstStyle/>
          <a:p>
            <a:pPr algn="ctr">
              <a:lnSpc>
                <a:spcPts val="3957"/>
              </a:lnSpc>
            </a:pPr>
            <a:r>
              <a:rPr lang="en-US" sz="2826" b="true">
                <a:solidFill>
                  <a:srgbClr val="000000"/>
                </a:solidFill>
                <a:latin typeface="Canva Sans Bold"/>
                <a:ea typeface="Canva Sans Bold"/>
                <a:cs typeface="Canva Sans Bold"/>
                <a:sym typeface="Canva Sans Bold"/>
              </a:rPr>
              <a:t>Vout</a:t>
            </a:r>
          </a:p>
        </p:txBody>
      </p:sp>
      <p:sp>
        <p:nvSpPr>
          <p:cNvPr name="TextBox 127" id="127"/>
          <p:cNvSpPr txBox="true"/>
          <p:nvPr/>
        </p:nvSpPr>
        <p:spPr>
          <a:xfrm rot="0">
            <a:off x="7692037" y="3309656"/>
            <a:ext cx="1390288" cy="381597"/>
          </a:xfrm>
          <a:prstGeom prst="rect">
            <a:avLst/>
          </a:prstGeom>
        </p:spPr>
        <p:txBody>
          <a:bodyPr anchor="t" rtlCol="false" tIns="0" lIns="0" bIns="0" rIns="0">
            <a:spAutoFit/>
          </a:bodyPr>
          <a:lstStyle/>
          <a:p>
            <a:pPr algn="ctr">
              <a:lnSpc>
                <a:spcPts val="3117"/>
              </a:lnSpc>
            </a:pPr>
            <a:r>
              <a:rPr lang="en-US" sz="2226" b="true">
                <a:solidFill>
                  <a:srgbClr val="000000"/>
                </a:solidFill>
                <a:latin typeface="Canva Sans Bold"/>
                <a:ea typeface="Canva Sans Bold"/>
                <a:cs typeface="Canva Sans Bold"/>
                <a:sym typeface="Canva Sans Bold"/>
              </a:rPr>
              <a:t>Vin1</a:t>
            </a:r>
          </a:p>
        </p:txBody>
      </p:sp>
      <p:sp>
        <p:nvSpPr>
          <p:cNvPr name="TextBox 128" id="128"/>
          <p:cNvSpPr txBox="true"/>
          <p:nvPr/>
        </p:nvSpPr>
        <p:spPr>
          <a:xfrm rot="0">
            <a:off x="13356140" y="3309656"/>
            <a:ext cx="1390288" cy="381597"/>
          </a:xfrm>
          <a:prstGeom prst="rect">
            <a:avLst/>
          </a:prstGeom>
        </p:spPr>
        <p:txBody>
          <a:bodyPr anchor="t" rtlCol="false" tIns="0" lIns="0" bIns="0" rIns="0">
            <a:spAutoFit/>
          </a:bodyPr>
          <a:lstStyle/>
          <a:p>
            <a:pPr algn="ctr">
              <a:lnSpc>
                <a:spcPts val="3117"/>
              </a:lnSpc>
            </a:pPr>
            <a:r>
              <a:rPr lang="en-US" sz="2226" b="true">
                <a:solidFill>
                  <a:srgbClr val="000000"/>
                </a:solidFill>
                <a:latin typeface="Canva Sans Bold"/>
                <a:ea typeface="Canva Sans Bold"/>
                <a:cs typeface="Canva Sans Bold"/>
                <a:sym typeface="Canva Sans Bold"/>
              </a:rPr>
              <a:t>Vin2</a:t>
            </a:r>
          </a:p>
        </p:txBody>
      </p:sp>
      <p:sp>
        <p:nvSpPr>
          <p:cNvPr name="TextBox 129" id="129"/>
          <p:cNvSpPr txBox="true"/>
          <p:nvPr/>
        </p:nvSpPr>
        <p:spPr>
          <a:xfrm rot="0">
            <a:off x="9144000" y="1688211"/>
            <a:ext cx="1390288" cy="381597"/>
          </a:xfrm>
          <a:prstGeom prst="rect">
            <a:avLst/>
          </a:prstGeom>
        </p:spPr>
        <p:txBody>
          <a:bodyPr anchor="t" rtlCol="false" tIns="0" lIns="0" bIns="0" rIns="0">
            <a:spAutoFit/>
          </a:bodyPr>
          <a:lstStyle/>
          <a:p>
            <a:pPr algn="ctr">
              <a:lnSpc>
                <a:spcPts val="3117"/>
              </a:lnSpc>
            </a:pPr>
            <a:r>
              <a:rPr lang="en-US" sz="2226" b="true">
                <a:solidFill>
                  <a:srgbClr val="000000"/>
                </a:solidFill>
                <a:latin typeface="Canva Sans Bold"/>
                <a:ea typeface="Canva Sans Bold"/>
                <a:cs typeface="Canva Sans Bold"/>
                <a:sym typeface="Canva Sans Bold"/>
              </a:rPr>
              <a:t>Vb</a:t>
            </a:r>
          </a:p>
        </p:txBody>
      </p:sp>
      <p:sp>
        <p:nvSpPr>
          <p:cNvPr name="TextBox 130" id="130"/>
          <p:cNvSpPr txBox="true"/>
          <p:nvPr/>
        </p:nvSpPr>
        <p:spPr>
          <a:xfrm rot="0">
            <a:off x="11501985" y="1746216"/>
            <a:ext cx="396954" cy="389255"/>
          </a:xfrm>
          <a:prstGeom prst="rect">
            <a:avLst/>
          </a:prstGeom>
        </p:spPr>
        <p:txBody>
          <a:bodyPr anchor="t" rtlCol="false" tIns="0" lIns="0" bIns="0" rIns="0">
            <a:spAutoFit/>
          </a:bodyPr>
          <a:lstStyle/>
          <a:p>
            <a:pPr algn="ctr">
              <a:lnSpc>
                <a:spcPts val="3219"/>
              </a:lnSpc>
              <a:spcBef>
                <a:spcPct val="0"/>
              </a:spcBef>
            </a:pPr>
            <a:r>
              <a:rPr lang="en-US" sz="2299">
                <a:solidFill>
                  <a:srgbClr val="000000"/>
                </a:solidFill>
                <a:latin typeface="League Spartan"/>
                <a:ea typeface="League Spartan"/>
                <a:cs typeface="League Spartan"/>
                <a:sym typeface="League Spartan"/>
              </a:rPr>
              <a:t>M1</a:t>
            </a:r>
          </a:p>
        </p:txBody>
      </p:sp>
      <p:sp>
        <p:nvSpPr>
          <p:cNvPr name="TextBox 131" id="131"/>
          <p:cNvSpPr txBox="true"/>
          <p:nvPr/>
        </p:nvSpPr>
        <p:spPr>
          <a:xfrm rot="0">
            <a:off x="10056446" y="3308122"/>
            <a:ext cx="496253" cy="389255"/>
          </a:xfrm>
          <a:prstGeom prst="rect">
            <a:avLst/>
          </a:prstGeom>
        </p:spPr>
        <p:txBody>
          <a:bodyPr anchor="t" rtlCol="false" tIns="0" lIns="0" bIns="0" rIns="0">
            <a:spAutoFit/>
          </a:bodyPr>
          <a:lstStyle/>
          <a:p>
            <a:pPr algn="ctr">
              <a:lnSpc>
                <a:spcPts val="3219"/>
              </a:lnSpc>
              <a:spcBef>
                <a:spcPct val="0"/>
              </a:spcBef>
            </a:pPr>
            <a:r>
              <a:rPr lang="en-US" sz="2299">
                <a:solidFill>
                  <a:srgbClr val="000000"/>
                </a:solidFill>
                <a:latin typeface="League Spartan"/>
                <a:ea typeface="League Spartan"/>
                <a:cs typeface="League Spartan"/>
                <a:sym typeface="League Spartan"/>
              </a:rPr>
              <a:t>M2</a:t>
            </a:r>
          </a:p>
        </p:txBody>
      </p:sp>
      <p:sp>
        <p:nvSpPr>
          <p:cNvPr name="TextBox 132" id="132"/>
          <p:cNvSpPr txBox="true"/>
          <p:nvPr/>
        </p:nvSpPr>
        <p:spPr>
          <a:xfrm rot="0">
            <a:off x="12007611" y="3334716"/>
            <a:ext cx="470535" cy="389255"/>
          </a:xfrm>
          <a:prstGeom prst="rect">
            <a:avLst/>
          </a:prstGeom>
        </p:spPr>
        <p:txBody>
          <a:bodyPr anchor="t" rtlCol="false" tIns="0" lIns="0" bIns="0" rIns="0">
            <a:spAutoFit/>
          </a:bodyPr>
          <a:lstStyle/>
          <a:p>
            <a:pPr algn="ctr">
              <a:lnSpc>
                <a:spcPts val="3219"/>
              </a:lnSpc>
              <a:spcBef>
                <a:spcPct val="0"/>
              </a:spcBef>
            </a:pPr>
            <a:r>
              <a:rPr lang="en-US" sz="2299">
                <a:solidFill>
                  <a:srgbClr val="000000"/>
                </a:solidFill>
                <a:latin typeface="League Spartan"/>
                <a:ea typeface="League Spartan"/>
                <a:cs typeface="League Spartan"/>
                <a:sym typeface="League Spartan"/>
              </a:rPr>
              <a:t>M3</a:t>
            </a:r>
          </a:p>
        </p:txBody>
      </p:sp>
      <p:sp>
        <p:nvSpPr>
          <p:cNvPr name="TextBox 133" id="133"/>
          <p:cNvSpPr txBox="true"/>
          <p:nvPr/>
        </p:nvSpPr>
        <p:spPr>
          <a:xfrm rot="0">
            <a:off x="10220671" y="6396824"/>
            <a:ext cx="470892" cy="389255"/>
          </a:xfrm>
          <a:prstGeom prst="rect">
            <a:avLst/>
          </a:prstGeom>
        </p:spPr>
        <p:txBody>
          <a:bodyPr anchor="t" rtlCol="false" tIns="0" lIns="0" bIns="0" rIns="0">
            <a:spAutoFit/>
          </a:bodyPr>
          <a:lstStyle/>
          <a:p>
            <a:pPr algn="ctr">
              <a:lnSpc>
                <a:spcPts val="3219"/>
              </a:lnSpc>
              <a:spcBef>
                <a:spcPct val="0"/>
              </a:spcBef>
            </a:pPr>
            <a:r>
              <a:rPr lang="en-US" sz="2299">
                <a:solidFill>
                  <a:srgbClr val="000000"/>
                </a:solidFill>
                <a:latin typeface="League Spartan"/>
                <a:ea typeface="League Spartan"/>
                <a:cs typeface="League Spartan"/>
                <a:sym typeface="League Spartan"/>
              </a:rPr>
              <a:t>M4</a:t>
            </a:r>
          </a:p>
        </p:txBody>
      </p:sp>
      <p:sp>
        <p:nvSpPr>
          <p:cNvPr name="TextBox 134" id="134"/>
          <p:cNvSpPr txBox="true"/>
          <p:nvPr/>
        </p:nvSpPr>
        <p:spPr>
          <a:xfrm rot="0">
            <a:off x="12741276" y="6418727"/>
            <a:ext cx="463629" cy="389255"/>
          </a:xfrm>
          <a:prstGeom prst="rect">
            <a:avLst/>
          </a:prstGeom>
        </p:spPr>
        <p:txBody>
          <a:bodyPr anchor="t" rtlCol="false" tIns="0" lIns="0" bIns="0" rIns="0">
            <a:spAutoFit/>
          </a:bodyPr>
          <a:lstStyle/>
          <a:p>
            <a:pPr algn="ctr">
              <a:lnSpc>
                <a:spcPts val="3219"/>
              </a:lnSpc>
              <a:spcBef>
                <a:spcPct val="0"/>
              </a:spcBef>
            </a:pPr>
            <a:r>
              <a:rPr lang="en-US" sz="2299">
                <a:solidFill>
                  <a:srgbClr val="000000"/>
                </a:solidFill>
                <a:latin typeface="League Spartan"/>
                <a:ea typeface="League Spartan"/>
                <a:cs typeface="League Spartan"/>
                <a:sym typeface="League Spartan"/>
              </a:rPr>
              <a:t>M5</a:t>
            </a:r>
          </a:p>
        </p:txBody>
      </p:sp>
      <p:sp>
        <p:nvSpPr>
          <p:cNvPr name="TextBox 135" id="135"/>
          <p:cNvSpPr txBox="true"/>
          <p:nvPr/>
        </p:nvSpPr>
        <p:spPr>
          <a:xfrm rot="0">
            <a:off x="10245220" y="8310079"/>
            <a:ext cx="477560" cy="389255"/>
          </a:xfrm>
          <a:prstGeom prst="rect">
            <a:avLst/>
          </a:prstGeom>
        </p:spPr>
        <p:txBody>
          <a:bodyPr anchor="t" rtlCol="false" tIns="0" lIns="0" bIns="0" rIns="0">
            <a:spAutoFit/>
          </a:bodyPr>
          <a:lstStyle/>
          <a:p>
            <a:pPr algn="ctr">
              <a:lnSpc>
                <a:spcPts val="3219"/>
              </a:lnSpc>
              <a:spcBef>
                <a:spcPct val="0"/>
              </a:spcBef>
            </a:pPr>
            <a:r>
              <a:rPr lang="en-US" sz="2299">
                <a:solidFill>
                  <a:srgbClr val="000000"/>
                </a:solidFill>
                <a:latin typeface="League Spartan"/>
                <a:ea typeface="League Spartan"/>
                <a:cs typeface="League Spartan"/>
                <a:sym typeface="League Spartan"/>
              </a:rPr>
              <a:t>M6</a:t>
            </a:r>
          </a:p>
        </p:txBody>
      </p:sp>
      <p:sp>
        <p:nvSpPr>
          <p:cNvPr name="TextBox 136" id="136"/>
          <p:cNvSpPr txBox="true"/>
          <p:nvPr/>
        </p:nvSpPr>
        <p:spPr>
          <a:xfrm rot="0">
            <a:off x="12792655" y="8317949"/>
            <a:ext cx="477322" cy="389255"/>
          </a:xfrm>
          <a:prstGeom prst="rect">
            <a:avLst/>
          </a:prstGeom>
        </p:spPr>
        <p:txBody>
          <a:bodyPr anchor="t" rtlCol="false" tIns="0" lIns="0" bIns="0" rIns="0">
            <a:spAutoFit/>
          </a:bodyPr>
          <a:lstStyle/>
          <a:p>
            <a:pPr algn="ctr">
              <a:lnSpc>
                <a:spcPts val="3219"/>
              </a:lnSpc>
              <a:spcBef>
                <a:spcPct val="0"/>
              </a:spcBef>
            </a:pPr>
            <a:r>
              <a:rPr lang="en-US" sz="2299">
                <a:solidFill>
                  <a:srgbClr val="000000"/>
                </a:solidFill>
                <a:latin typeface="League Spartan"/>
                <a:ea typeface="League Spartan"/>
                <a:cs typeface="League Spartan"/>
                <a:sym typeface="League Spartan"/>
              </a:rPr>
              <a:t>M7</a:t>
            </a:r>
          </a:p>
        </p:txBody>
      </p:sp>
      <p:sp>
        <p:nvSpPr>
          <p:cNvPr name="TextBox 137" id="137"/>
          <p:cNvSpPr txBox="true"/>
          <p:nvPr/>
        </p:nvSpPr>
        <p:spPr>
          <a:xfrm rot="0">
            <a:off x="4958097" y="6349647"/>
            <a:ext cx="476964" cy="389255"/>
          </a:xfrm>
          <a:prstGeom prst="rect">
            <a:avLst/>
          </a:prstGeom>
        </p:spPr>
        <p:txBody>
          <a:bodyPr anchor="t" rtlCol="false" tIns="0" lIns="0" bIns="0" rIns="0">
            <a:spAutoFit/>
          </a:bodyPr>
          <a:lstStyle/>
          <a:p>
            <a:pPr algn="ctr">
              <a:lnSpc>
                <a:spcPts val="3219"/>
              </a:lnSpc>
              <a:spcBef>
                <a:spcPct val="0"/>
              </a:spcBef>
            </a:pPr>
            <a:r>
              <a:rPr lang="en-US" sz="2299">
                <a:solidFill>
                  <a:srgbClr val="000000"/>
                </a:solidFill>
                <a:latin typeface="League Spartan"/>
                <a:ea typeface="League Spartan"/>
                <a:cs typeface="League Spartan"/>
                <a:sym typeface="League Spartan"/>
              </a:rPr>
              <a:t>M8</a:t>
            </a:r>
          </a:p>
        </p:txBody>
      </p:sp>
      <p:sp>
        <p:nvSpPr>
          <p:cNvPr name="TextBox 138" id="138"/>
          <p:cNvSpPr txBox="true"/>
          <p:nvPr/>
        </p:nvSpPr>
        <p:spPr>
          <a:xfrm rot="0">
            <a:off x="1028700" y="1291901"/>
            <a:ext cx="1713667" cy="647066"/>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MT Bold"/>
                <a:ea typeface="Times New Roman MT Bold"/>
                <a:cs typeface="Times New Roman MT Bold"/>
                <a:sym typeface="Times New Roman MT Bold"/>
              </a:rPr>
              <a:t>DESIGN</a:t>
            </a:r>
          </a:p>
        </p:txBody>
      </p:sp>
      <p:sp>
        <p:nvSpPr>
          <p:cNvPr name="Freeform 139" id="139"/>
          <p:cNvSpPr/>
          <p:nvPr/>
        </p:nvSpPr>
        <p:spPr>
          <a:xfrm flipH="false" flipV="false" rot="0">
            <a:off x="13494184" y="496877"/>
            <a:ext cx="3765116" cy="1063645"/>
          </a:xfrm>
          <a:custGeom>
            <a:avLst/>
            <a:gdLst/>
            <a:ahLst/>
            <a:cxnLst/>
            <a:rect r="r" b="b" t="t" l="l"/>
            <a:pathLst>
              <a:path h="1063645" w="3765116">
                <a:moveTo>
                  <a:pt x="0" y="0"/>
                </a:moveTo>
                <a:lnTo>
                  <a:pt x="3765116" y="0"/>
                </a:lnTo>
                <a:lnTo>
                  <a:pt x="3765116" y="1063646"/>
                </a:lnTo>
                <a:lnTo>
                  <a:pt x="0" y="1063646"/>
                </a:lnTo>
                <a:lnTo>
                  <a:pt x="0" y="0"/>
                </a:lnTo>
                <a:close/>
              </a:path>
            </a:pathLst>
          </a:custGeom>
          <a:blipFill>
            <a:blip r:embed="rId4"/>
            <a:stretch>
              <a:fillRect l="0" t="0" r="0" b="0"/>
            </a:stretch>
          </a:blipFill>
        </p:spPr>
      </p:sp>
    </p:spTree>
  </p:cSld>
  <p:clrMapOvr>
    <a:masterClrMapping/>
  </p:clrMapOvr>
  <p:transition spd="fast">
    <p:push dir="l"/>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35485" y="638492"/>
            <a:ext cx="2220159" cy="647066"/>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MT Bold"/>
                <a:ea typeface="Times New Roman MT Bold"/>
                <a:cs typeface="Times New Roman MT Bold"/>
                <a:sym typeface="Times New Roman MT Bold"/>
              </a:rPr>
              <a:t>WORKING</a:t>
            </a:r>
          </a:p>
        </p:txBody>
      </p:sp>
      <p:sp>
        <p:nvSpPr>
          <p:cNvPr name="TextBox 3" id="3"/>
          <p:cNvSpPr txBox="true"/>
          <p:nvPr/>
        </p:nvSpPr>
        <p:spPr>
          <a:xfrm rot="0">
            <a:off x="197749" y="1381340"/>
            <a:ext cx="17892502" cy="8795258"/>
          </a:xfrm>
          <a:prstGeom prst="rect">
            <a:avLst/>
          </a:prstGeom>
        </p:spPr>
        <p:txBody>
          <a:bodyPr anchor="t" rtlCol="false" tIns="0" lIns="0" bIns="0" rIns="0">
            <a:spAutoFit/>
          </a:bodyPr>
          <a:lstStyle/>
          <a:p>
            <a:pPr algn="l" marL="535433" indent="-267716" lvl="1">
              <a:lnSpc>
                <a:spcPts val="3472"/>
              </a:lnSpc>
              <a:buFont typeface="Arial"/>
              <a:buChar char="•"/>
            </a:pPr>
            <a:r>
              <a:rPr lang="en-US" b="true" sz="2480">
                <a:solidFill>
                  <a:srgbClr val="000000"/>
                </a:solidFill>
                <a:latin typeface="Times New Roman MT Bold"/>
                <a:ea typeface="Times New Roman MT Bold"/>
                <a:cs typeface="Times New Roman MT Bold"/>
                <a:sym typeface="Times New Roman MT Bold"/>
              </a:rPr>
              <a:t>Differential Current Steering</a:t>
            </a:r>
            <a:r>
              <a:rPr lang="en-US" sz="2480">
                <a:solidFill>
                  <a:srgbClr val="000000"/>
                </a:solidFill>
                <a:latin typeface="Times New Roman MT"/>
                <a:ea typeface="Times New Roman MT"/>
                <a:cs typeface="Times New Roman MT"/>
                <a:sym typeface="Times New Roman MT"/>
              </a:rPr>
              <a:t>: </a:t>
            </a:r>
          </a:p>
          <a:p>
            <a:pPr algn="l">
              <a:lnSpc>
                <a:spcPts val="3472"/>
              </a:lnSpc>
            </a:pPr>
            <a:r>
              <a:rPr lang="en-US" sz="2480">
                <a:solidFill>
                  <a:srgbClr val="000000"/>
                </a:solidFill>
                <a:latin typeface="Times New Roman MT"/>
                <a:ea typeface="Times New Roman MT"/>
                <a:cs typeface="Times New Roman MT"/>
                <a:sym typeface="Times New Roman MT"/>
              </a:rPr>
              <a:t>When the input voltage on one branch rises relative to the other, the circuit doesn't create new current it simply balance the current into one branch and away from the other. So like if left PMOS gets more current ( I_tail / 2 + Δ i), the right PMOS automatically gets less ( I_tail / 2 - Δi) .</a:t>
            </a:r>
          </a:p>
          <a:p>
            <a:pPr algn="l">
              <a:lnSpc>
                <a:spcPts val="3472"/>
              </a:lnSpc>
            </a:pPr>
          </a:p>
          <a:p>
            <a:pPr algn="l" marL="535433" indent="-267716" lvl="1">
              <a:lnSpc>
                <a:spcPts val="3472"/>
              </a:lnSpc>
              <a:buFont typeface="Arial"/>
              <a:buChar char="•"/>
            </a:pPr>
            <a:r>
              <a:rPr lang="en-US" b="true" sz="2480">
                <a:solidFill>
                  <a:srgbClr val="000000"/>
                </a:solidFill>
                <a:latin typeface="Times New Roman MT Bold"/>
                <a:ea typeface="Times New Roman MT Bold"/>
                <a:cs typeface="Times New Roman MT Bold"/>
                <a:sym typeface="Times New Roman MT Bold"/>
              </a:rPr>
              <a:t>Active Load Current Mirroring</a:t>
            </a:r>
            <a:r>
              <a:rPr lang="en-US" sz="2480">
                <a:solidFill>
                  <a:srgbClr val="000000"/>
                </a:solidFill>
                <a:latin typeface="Times New Roman MT"/>
                <a:ea typeface="Times New Roman MT"/>
                <a:cs typeface="Times New Roman MT"/>
                <a:sym typeface="Times New Roman MT"/>
              </a:rPr>
              <a:t>: </a:t>
            </a:r>
          </a:p>
          <a:p>
            <a:pPr algn="l">
              <a:lnSpc>
                <a:spcPts val="3472"/>
              </a:lnSpc>
            </a:pPr>
            <a:r>
              <a:rPr lang="en-US" sz="2480">
                <a:solidFill>
                  <a:srgbClr val="000000"/>
                </a:solidFill>
                <a:latin typeface="Times New Roman MT"/>
                <a:ea typeface="Times New Roman MT"/>
                <a:cs typeface="Times New Roman MT"/>
                <a:sym typeface="Times New Roman MT"/>
              </a:rPr>
              <a:t>The right output node has two opposing forces:</a:t>
            </a:r>
          </a:p>
          <a:p>
            <a:pPr algn="l">
              <a:lnSpc>
                <a:spcPts val="3472"/>
              </a:lnSpc>
            </a:pPr>
            <a:r>
              <a:rPr lang="en-US" sz="2480">
                <a:solidFill>
                  <a:srgbClr val="000000"/>
                </a:solidFill>
                <a:latin typeface="Times New Roman MT"/>
                <a:ea typeface="Times New Roman MT"/>
                <a:cs typeface="Times New Roman MT"/>
                <a:sym typeface="Times New Roman MT"/>
              </a:rPr>
              <a:t>      </a:t>
            </a:r>
            <a:r>
              <a:rPr lang="en-US" sz="2480">
                <a:solidFill>
                  <a:srgbClr val="000000"/>
                </a:solidFill>
                <a:latin typeface="Times New Roman MT"/>
                <a:ea typeface="Times New Roman MT"/>
                <a:cs typeface="Times New Roman MT"/>
                <a:sym typeface="Times New Roman MT"/>
              </a:rPr>
              <a:t>The top PMOS branch trying to push its current ( i_d2 ) into the output.</a:t>
            </a:r>
          </a:p>
          <a:p>
            <a:pPr algn="l">
              <a:lnSpc>
                <a:spcPts val="3472"/>
              </a:lnSpc>
            </a:pPr>
            <a:r>
              <a:rPr lang="en-US" sz="2480">
                <a:solidFill>
                  <a:srgbClr val="000000"/>
                </a:solidFill>
                <a:latin typeface="Times New Roman MT"/>
                <a:ea typeface="Times New Roman MT"/>
                <a:cs typeface="Times New Roman MT"/>
                <a:sym typeface="Times New Roman MT"/>
              </a:rPr>
              <a:t>      </a:t>
            </a:r>
            <a:r>
              <a:rPr lang="en-US" sz="2480">
                <a:solidFill>
                  <a:srgbClr val="000000"/>
                </a:solidFill>
                <a:latin typeface="Times New Roman MT"/>
                <a:ea typeface="Times New Roman MT"/>
                <a:cs typeface="Times New Roman MT"/>
                <a:sym typeface="Times New Roman MT"/>
              </a:rPr>
              <a:t>The bottom NMOS load pulling the mirrored current ( i_d1 ) down to ground.</a:t>
            </a:r>
          </a:p>
          <a:p>
            <a:pPr algn="l">
              <a:lnSpc>
                <a:spcPts val="3472"/>
              </a:lnSpc>
            </a:pPr>
            <a:r>
              <a:rPr lang="en-US" sz="2480">
                <a:solidFill>
                  <a:srgbClr val="000000"/>
                </a:solidFill>
                <a:latin typeface="Times New Roman MT"/>
                <a:ea typeface="Times New Roman MT"/>
                <a:cs typeface="Times New Roman MT"/>
                <a:sym typeface="Times New Roman MT"/>
              </a:rPr>
              <a:t>Because the two currents move in opposite directions ( +Δ i vs -Δi ), they push and pull against the node's high output resistance, converting current difference into a huge single-ended voltage swing</a:t>
            </a:r>
          </a:p>
          <a:p>
            <a:pPr algn="l">
              <a:lnSpc>
                <a:spcPts val="3472"/>
              </a:lnSpc>
            </a:pPr>
          </a:p>
          <a:p>
            <a:pPr algn="l" marL="535433" indent="-267716" lvl="1">
              <a:lnSpc>
                <a:spcPts val="3472"/>
              </a:lnSpc>
              <a:buFont typeface="Arial"/>
              <a:buChar char="•"/>
            </a:pPr>
            <a:r>
              <a:rPr lang="en-US" b="true" sz="2480">
                <a:solidFill>
                  <a:srgbClr val="000000"/>
                </a:solidFill>
                <a:latin typeface="Times New Roman MT Bold"/>
                <a:ea typeface="Times New Roman MT Bold"/>
                <a:cs typeface="Times New Roman MT Bold"/>
                <a:sym typeface="Times New Roman MT Bold"/>
              </a:rPr>
              <a:t>Cascode Impedance Shielding</a:t>
            </a:r>
            <a:r>
              <a:rPr lang="en-US" sz="2480">
                <a:solidFill>
                  <a:srgbClr val="000000"/>
                </a:solidFill>
                <a:latin typeface="Times New Roman MT"/>
                <a:ea typeface="Times New Roman MT"/>
                <a:cs typeface="Times New Roman MT"/>
                <a:sym typeface="Times New Roman MT"/>
              </a:rPr>
              <a:t>: </a:t>
            </a:r>
          </a:p>
          <a:p>
            <a:pPr algn="l">
              <a:lnSpc>
                <a:spcPts val="3472"/>
              </a:lnSpc>
            </a:pPr>
            <a:r>
              <a:rPr lang="en-US" sz="2480">
                <a:solidFill>
                  <a:srgbClr val="000000"/>
                </a:solidFill>
                <a:latin typeface="Times New Roman MT"/>
                <a:ea typeface="Times New Roman MT"/>
                <a:cs typeface="Times New Roman MT"/>
                <a:sym typeface="Times New Roman MT"/>
              </a:rPr>
              <a:t>A cascode transistor is stacked directly on top of the bottom mirror transistor. It acts as an impedance multiplier and voltage buffer. It isolates the bottom transistor's drain, holding that node virtually constant regardless of how wildly Vout fluctuates.Because the bottom transistor sees a stable voltage, its current is constant.</a:t>
            </a:r>
          </a:p>
          <a:p>
            <a:pPr algn="l">
              <a:lnSpc>
                <a:spcPts val="3472"/>
              </a:lnSpc>
            </a:pPr>
          </a:p>
          <a:p>
            <a:pPr algn="l" marL="535433" indent="-267716" lvl="1">
              <a:lnSpc>
                <a:spcPts val="3472"/>
              </a:lnSpc>
              <a:buFont typeface="Arial"/>
              <a:buChar char="•"/>
            </a:pPr>
            <a:r>
              <a:rPr lang="en-US" b="true" sz="2480">
                <a:solidFill>
                  <a:srgbClr val="000000"/>
                </a:solidFill>
                <a:latin typeface="Times New Roman MT Bold"/>
                <a:ea typeface="Times New Roman MT Bold"/>
                <a:cs typeface="Times New Roman MT Bold"/>
                <a:sym typeface="Times New Roman MT Bold"/>
              </a:rPr>
              <a:t>Headroom Preservation</a:t>
            </a:r>
            <a:r>
              <a:rPr lang="en-US" sz="2480">
                <a:solidFill>
                  <a:srgbClr val="000000"/>
                </a:solidFill>
                <a:latin typeface="Times New Roman MT"/>
                <a:ea typeface="Times New Roman MT"/>
                <a:cs typeface="Times New Roman MT"/>
                <a:sym typeface="Times New Roman MT"/>
              </a:rPr>
              <a:t>: </a:t>
            </a:r>
          </a:p>
          <a:p>
            <a:pPr algn="l">
              <a:lnSpc>
                <a:spcPts val="3472"/>
              </a:lnSpc>
            </a:pPr>
            <a:r>
              <a:rPr lang="en-US" sz="2480">
                <a:solidFill>
                  <a:srgbClr val="000000"/>
                </a:solidFill>
                <a:latin typeface="Times New Roman MT"/>
                <a:ea typeface="Times New Roman MT"/>
                <a:cs typeface="Times New Roman MT"/>
                <a:sym typeface="Times New Roman MT"/>
              </a:rPr>
              <a:t>Wide-swing gate bias holds the bottom mirror drain-source voltage at exactly , preventing premature saturation loss. and makes Vds= Vov.</a:t>
            </a:r>
          </a:p>
        </p:txBody>
      </p:sp>
      <p:sp>
        <p:nvSpPr>
          <p:cNvPr name="Freeform 4" id="4"/>
          <p:cNvSpPr/>
          <p:nvPr/>
        </p:nvSpPr>
        <p:spPr>
          <a:xfrm flipH="false" flipV="false" rot="0">
            <a:off x="13494184" y="496877"/>
            <a:ext cx="3765116" cy="1063645"/>
          </a:xfrm>
          <a:custGeom>
            <a:avLst/>
            <a:gdLst/>
            <a:ahLst/>
            <a:cxnLst/>
            <a:rect r="r" b="b" t="t" l="l"/>
            <a:pathLst>
              <a:path h="1063645" w="3765116">
                <a:moveTo>
                  <a:pt x="0" y="0"/>
                </a:moveTo>
                <a:lnTo>
                  <a:pt x="3765116" y="0"/>
                </a:lnTo>
                <a:lnTo>
                  <a:pt x="3765116" y="1063646"/>
                </a:lnTo>
                <a:lnTo>
                  <a:pt x="0" y="1063646"/>
                </a:lnTo>
                <a:lnTo>
                  <a:pt x="0" y="0"/>
                </a:lnTo>
                <a:close/>
              </a:path>
            </a:pathLst>
          </a:custGeom>
          <a:blipFill>
            <a:blip r:embed="rId2"/>
            <a:stretch>
              <a:fillRect l="0" t="0" r="0" b="0"/>
            </a:stretch>
          </a:blipFill>
        </p:spPr>
      </p:sp>
    </p:spTree>
  </p:cSld>
  <p:clrMapOvr>
    <a:masterClrMapping/>
  </p:clrMapOvr>
  <p:transition spd="fast">
    <p:push dir="l"/>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1950817" y="5036396"/>
            <a:ext cx="4036194" cy="1765116"/>
          </a:xfrm>
          <a:prstGeom prst="rect">
            <a:avLst/>
          </a:prstGeom>
        </p:spPr>
      </p:pic>
      <p:pic>
        <p:nvPicPr>
          <p:cNvPr name="Picture 3" id="3"/>
          <p:cNvPicPr>
            <a:picLocks noChangeAspect="true"/>
          </p:cNvPicPr>
          <p:nvPr/>
        </p:nvPicPr>
        <p:blipFill>
          <a:blip r:embed="rId3"/>
          <a:stretch>
            <a:fillRect/>
          </a:stretch>
        </p:blipFill>
        <p:spPr>
          <a:xfrm rot="0">
            <a:off x="5942606" y="5674161"/>
            <a:ext cx="561583" cy="489585"/>
          </a:xfrm>
          <a:prstGeom prst="rect">
            <a:avLst/>
          </a:prstGeom>
        </p:spPr>
      </p:pic>
      <p:pic>
        <p:nvPicPr>
          <p:cNvPr name="Picture 4" id="4"/>
          <p:cNvPicPr>
            <a:picLocks noChangeAspect="true"/>
          </p:cNvPicPr>
          <p:nvPr/>
        </p:nvPicPr>
        <p:blipFill>
          <a:blip r:embed="rId4"/>
          <a:stretch>
            <a:fillRect/>
          </a:stretch>
        </p:blipFill>
        <p:spPr>
          <a:xfrm rot="0">
            <a:off x="6438428" y="4979114"/>
            <a:ext cx="4342362" cy="1879680"/>
          </a:xfrm>
          <a:prstGeom prst="rect">
            <a:avLst/>
          </a:prstGeom>
        </p:spPr>
      </p:pic>
      <p:pic>
        <p:nvPicPr>
          <p:cNvPr name="Picture 5" id="5"/>
          <p:cNvPicPr>
            <a:picLocks noChangeAspect="true"/>
          </p:cNvPicPr>
          <p:nvPr/>
        </p:nvPicPr>
        <p:blipFill>
          <a:blip r:embed="rId5"/>
          <a:stretch>
            <a:fillRect/>
          </a:stretch>
        </p:blipFill>
        <p:spPr>
          <a:xfrm rot="0">
            <a:off x="10653016" y="5674161"/>
            <a:ext cx="561583" cy="489585"/>
          </a:xfrm>
          <a:prstGeom prst="rect">
            <a:avLst/>
          </a:prstGeom>
        </p:spPr>
      </p:pic>
      <p:grpSp>
        <p:nvGrpSpPr>
          <p:cNvPr name="Group 6" id="6"/>
          <p:cNvGrpSpPr/>
          <p:nvPr/>
        </p:nvGrpSpPr>
        <p:grpSpPr>
          <a:xfrm rot="0">
            <a:off x="11167801" y="5502311"/>
            <a:ext cx="3115868" cy="811977"/>
            <a:chOff x="0" y="0"/>
            <a:chExt cx="820640" cy="213854"/>
          </a:xfrm>
        </p:grpSpPr>
        <p:sp>
          <p:nvSpPr>
            <p:cNvPr name="Freeform 7" id="7"/>
            <p:cNvSpPr/>
            <p:nvPr/>
          </p:nvSpPr>
          <p:spPr>
            <a:xfrm flipH="false" flipV="false" rot="0">
              <a:off x="0" y="0"/>
              <a:ext cx="820640" cy="213854"/>
            </a:xfrm>
            <a:custGeom>
              <a:avLst/>
              <a:gdLst/>
              <a:ahLst/>
              <a:cxnLst/>
              <a:rect r="r" b="b" t="t" l="l"/>
              <a:pathLst>
                <a:path h="213854" w="820640">
                  <a:moveTo>
                    <a:pt x="0" y="0"/>
                  </a:moveTo>
                  <a:lnTo>
                    <a:pt x="820640" y="0"/>
                  </a:lnTo>
                  <a:lnTo>
                    <a:pt x="820640" y="213854"/>
                  </a:lnTo>
                  <a:lnTo>
                    <a:pt x="0" y="213854"/>
                  </a:lnTo>
                  <a:close/>
                </a:path>
              </a:pathLst>
            </a:custGeom>
            <a:solidFill>
              <a:srgbClr val="FFFFFF"/>
            </a:solidFill>
            <a:ln w="28575" cap="sq">
              <a:solidFill>
                <a:srgbClr val="000000"/>
              </a:solidFill>
              <a:prstDash val="solid"/>
              <a:miter/>
            </a:ln>
          </p:spPr>
        </p:sp>
        <p:sp>
          <p:nvSpPr>
            <p:cNvPr name="TextBox 8" id="8"/>
            <p:cNvSpPr txBox="true"/>
            <p:nvPr/>
          </p:nvSpPr>
          <p:spPr>
            <a:xfrm>
              <a:off x="0" y="-19050"/>
              <a:ext cx="820640" cy="232904"/>
            </a:xfrm>
            <a:prstGeom prst="rect">
              <a:avLst/>
            </a:prstGeom>
          </p:spPr>
          <p:txBody>
            <a:bodyPr anchor="ctr" rtlCol="false" tIns="50800" lIns="50800" bIns="50800" rIns="50800"/>
            <a:lstStyle/>
            <a:p>
              <a:pPr algn="ctr">
                <a:lnSpc>
                  <a:spcPts val="2063"/>
                </a:lnSpc>
              </a:pPr>
            </a:p>
          </p:txBody>
        </p:sp>
      </p:grpSp>
      <p:pic>
        <p:nvPicPr>
          <p:cNvPr name="Picture 9" id="9"/>
          <p:cNvPicPr>
            <a:picLocks noChangeAspect="true"/>
          </p:cNvPicPr>
          <p:nvPr/>
        </p:nvPicPr>
        <p:blipFill>
          <a:blip r:embed="rId6"/>
          <a:stretch>
            <a:fillRect/>
          </a:stretch>
        </p:blipFill>
        <p:spPr>
          <a:xfrm rot="0">
            <a:off x="11330112" y="5492746"/>
            <a:ext cx="2738567" cy="831108"/>
          </a:xfrm>
          <a:prstGeom prst="rect">
            <a:avLst/>
          </a:prstGeom>
        </p:spPr>
      </p:pic>
      <p:pic>
        <p:nvPicPr>
          <p:cNvPr name="Picture 10" id="10"/>
          <p:cNvPicPr>
            <a:picLocks noChangeAspect="true"/>
          </p:cNvPicPr>
          <p:nvPr/>
        </p:nvPicPr>
        <p:blipFill>
          <a:blip r:embed="rId7"/>
          <a:stretch>
            <a:fillRect/>
          </a:stretch>
        </p:blipFill>
        <p:spPr>
          <a:xfrm rot="0">
            <a:off x="1345421" y="7789792"/>
            <a:ext cx="3550890" cy="925545"/>
          </a:xfrm>
          <a:prstGeom prst="rect">
            <a:avLst/>
          </a:prstGeom>
        </p:spPr>
      </p:pic>
      <p:pic>
        <p:nvPicPr>
          <p:cNvPr name="Picture 11" id="11"/>
          <p:cNvPicPr>
            <a:picLocks noChangeAspect="true"/>
          </p:cNvPicPr>
          <p:nvPr/>
        </p:nvPicPr>
        <p:blipFill>
          <a:blip r:embed="rId8"/>
          <a:stretch>
            <a:fillRect/>
          </a:stretch>
        </p:blipFill>
        <p:spPr>
          <a:xfrm rot="0">
            <a:off x="6055223" y="7760574"/>
            <a:ext cx="3209197" cy="878358"/>
          </a:xfrm>
          <a:prstGeom prst="rect">
            <a:avLst/>
          </a:prstGeom>
        </p:spPr>
      </p:pic>
      <p:pic>
        <p:nvPicPr>
          <p:cNvPr name="Picture 12" id="12"/>
          <p:cNvPicPr>
            <a:picLocks noChangeAspect="true"/>
          </p:cNvPicPr>
          <p:nvPr/>
        </p:nvPicPr>
        <p:blipFill>
          <a:blip r:embed="rId9"/>
          <a:stretch>
            <a:fillRect/>
          </a:stretch>
        </p:blipFill>
        <p:spPr>
          <a:xfrm rot="0">
            <a:off x="1070866" y="8391504"/>
            <a:ext cx="6565632" cy="1494006"/>
          </a:xfrm>
          <a:prstGeom prst="rect">
            <a:avLst/>
          </a:prstGeom>
        </p:spPr>
      </p:pic>
      <p:pic>
        <p:nvPicPr>
          <p:cNvPr name="Picture 13" id="13"/>
          <p:cNvPicPr>
            <a:picLocks noChangeAspect="true"/>
          </p:cNvPicPr>
          <p:nvPr/>
        </p:nvPicPr>
        <p:blipFill>
          <a:blip r:embed="rId10"/>
          <a:stretch>
            <a:fillRect/>
          </a:stretch>
        </p:blipFill>
        <p:spPr>
          <a:xfrm rot="0">
            <a:off x="7580356" y="8451845"/>
            <a:ext cx="5737292" cy="1347121"/>
          </a:xfrm>
          <a:prstGeom prst="rect">
            <a:avLst/>
          </a:prstGeom>
        </p:spPr>
      </p:pic>
      <p:grpSp>
        <p:nvGrpSpPr>
          <p:cNvPr name="Group 14" id="14"/>
          <p:cNvGrpSpPr/>
          <p:nvPr/>
        </p:nvGrpSpPr>
        <p:grpSpPr>
          <a:xfrm rot="0">
            <a:off x="13792813" y="8500547"/>
            <a:ext cx="3115868" cy="811977"/>
            <a:chOff x="0" y="0"/>
            <a:chExt cx="820640" cy="213854"/>
          </a:xfrm>
        </p:grpSpPr>
        <p:sp>
          <p:nvSpPr>
            <p:cNvPr name="Freeform 15" id="15"/>
            <p:cNvSpPr/>
            <p:nvPr/>
          </p:nvSpPr>
          <p:spPr>
            <a:xfrm flipH="false" flipV="false" rot="0">
              <a:off x="0" y="0"/>
              <a:ext cx="820640" cy="213854"/>
            </a:xfrm>
            <a:custGeom>
              <a:avLst/>
              <a:gdLst/>
              <a:ahLst/>
              <a:cxnLst/>
              <a:rect r="r" b="b" t="t" l="l"/>
              <a:pathLst>
                <a:path h="213854" w="820640">
                  <a:moveTo>
                    <a:pt x="0" y="0"/>
                  </a:moveTo>
                  <a:lnTo>
                    <a:pt x="820640" y="0"/>
                  </a:lnTo>
                  <a:lnTo>
                    <a:pt x="820640" y="213854"/>
                  </a:lnTo>
                  <a:lnTo>
                    <a:pt x="0" y="213854"/>
                  </a:lnTo>
                  <a:close/>
                </a:path>
              </a:pathLst>
            </a:custGeom>
            <a:solidFill>
              <a:srgbClr val="FFFFFF"/>
            </a:solidFill>
            <a:ln w="28575" cap="sq">
              <a:solidFill>
                <a:srgbClr val="000000"/>
              </a:solidFill>
              <a:prstDash val="solid"/>
              <a:miter/>
            </a:ln>
          </p:spPr>
        </p:sp>
        <p:sp>
          <p:nvSpPr>
            <p:cNvPr name="TextBox 16" id="16"/>
            <p:cNvSpPr txBox="true"/>
            <p:nvPr/>
          </p:nvSpPr>
          <p:spPr>
            <a:xfrm>
              <a:off x="0" y="-19050"/>
              <a:ext cx="820640" cy="232904"/>
            </a:xfrm>
            <a:prstGeom prst="rect">
              <a:avLst/>
            </a:prstGeom>
          </p:spPr>
          <p:txBody>
            <a:bodyPr anchor="ctr" rtlCol="false" tIns="50800" lIns="50800" bIns="50800" rIns="50800"/>
            <a:lstStyle/>
            <a:p>
              <a:pPr algn="ctr">
                <a:lnSpc>
                  <a:spcPts val="2063"/>
                </a:lnSpc>
              </a:pPr>
            </a:p>
          </p:txBody>
        </p:sp>
      </p:grpSp>
      <p:pic>
        <p:nvPicPr>
          <p:cNvPr name="Picture 17" id="17"/>
          <p:cNvPicPr>
            <a:picLocks noChangeAspect="true"/>
          </p:cNvPicPr>
          <p:nvPr/>
        </p:nvPicPr>
        <p:blipFill>
          <a:blip r:embed="rId11"/>
          <a:stretch>
            <a:fillRect/>
          </a:stretch>
        </p:blipFill>
        <p:spPr>
          <a:xfrm rot="0">
            <a:off x="13865087" y="8554974"/>
            <a:ext cx="3063565" cy="915333"/>
          </a:xfrm>
          <a:prstGeom prst="rect">
            <a:avLst/>
          </a:prstGeom>
        </p:spPr>
      </p:pic>
      <p:sp>
        <p:nvSpPr>
          <p:cNvPr name="TextBox 18" id="18"/>
          <p:cNvSpPr txBox="true"/>
          <p:nvPr/>
        </p:nvSpPr>
        <p:spPr>
          <a:xfrm rot="0">
            <a:off x="1028700" y="1291901"/>
            <a:ext cx="1713667" cy="647066"/>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MT Bold"/>
                <a:ea typeface="Times New Roman MT Bold"/>
                <a:cs typeface="Times New Roman MT Bold"/>
                <a:sym typeface="Times New Roman MT Bold"/>
              </a:rPr>
              <a:t>DESIGN</a:t>
            </a:r>
          </a:p>
        </p:txBody>
      </p:sp>
      <p:sp>
        <p:nvSpPr>
          <p:cNvPr name="TextBox 19" id="19"/>
          <p:cNvSpPr txBox="true"/>
          <p:nvPr/>
        </p:nvSpPr>
        <p:spPr>
          <a:xfrm rot="0">
            <a:off x="1028700" y="2061677"/>
            <a:ext cx="17094755" cy="647066"/>
          </a:xfrm>
          <a:prstGeom prst="rect">
            <a:avLst/>
          </a:prstGeom>
        </p:spPr>
        <p:txBody>
          <a:bodyPr anchor="t" rtlCol="false" tIns="0" lIns="0" bIns="0" rIns="0">
            <a:spAutoFit/>
          </a:bodyPr>
          <a:lstStyle/>
          <a:p>
            <a:pPr algn="l">
              <a:lnSpc>
                <a:spcPts val="4759"/>
              </a:lnSpc>
              <a:spcBef>
                <a:spcPct val="0"/>
              </a:spcBef>
            </a:pPr>
            <a:r>
              <a:rPr lang="en-US" sz="3399">
                <a:solidFill>
                  <a:srgbClr val="000000"/>
                </a:solidFill>
                <a:latin typeface="Times New Roman MT"/>
                <a:ea typeface="Times New Roman MT"/>
                <a:cs typeface="Times New Roman MT"/>
                <a:sym typeface="Times New Roman MT"/>
              </a:rPr>
              <a:t>Assumed Vov=0.15V, MnCox = 165µ A/V², Vthn = 0.53V, Vthp = 0.43V, MpCox = 45µ A/V² </a:t>
            </a:r>
          </a:p>
        </p:txBody>
      </p:sp>
      <p:sp>
        <p:nvSpPr>
          <p:cNvPr name="TextBox 20" id="20"/>
          <p:cNvSpPr txBox="true"/>
          <p:nvPr/>
        </p:nvSpPr>
        <p:spPr>
          <a:xfrm rot="0">
            <a:off x="1090960" y="2809293"/>
            <a:ext cx="5176957" cy="647066"/>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Times New Roman MT"/>
                <a:ea typeface="Times New Roman MT"/>
                <a:cs typeface="Times New Roman MT"/>
                <a:sym typeface="Times New Roman MT"/>
              </a:rPr>
              <a:t>Iss=20µA and  VDD = 1.8V</a:t>
            </a:r>
          </a:p>
        </p:txBody>
      </p:sp>
      <p:sp>
        <p:nvSpPr>
          <p:cNvPr name="TextBox 21" id="21"/>
          <p:cNvSpPr txBox="true"/>
          <p:nvPr/>
        </p:nvSpPr>
        <p:spPr>
          <a:xfrm rot="0">
            <a:off x="939403" y="4016583"/>
            <a:ext cx="6531888" cy="512445"/>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Times New Roman MT"/>
                <a:ea typeface="Times New Roman MT"/>
                <a:cs typeface="Times New Roman MT"/>
                <a:sym typeface="Times New Roman MT"/>
              </a:rPr>
              <a:t>From the top Transistor M1 , the (W/L)1 is , </a:t>
            </a:r>
          </a:p>
        </p:txBody>
      </p:sp>
      <p:sp>
        <p:nvSpPr>
          <p:cNvPr name="TextBox 22" id="22"/>
          <p:cNvSpPr txBox="true"/>
          <p:nvPr/>
        </p:nvSpPr>
        <p:spPr>
          <a:xfrm rot="0">
            <a:off x="1065550" y="7316080"/>
            <a:ext cx="924997" cy="512445"/>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Times New Roman MT"/>
                <a:ea typeface="Times New Roman MT"/>
                <a:cs typeface="Times New Roman MT"/>
                <a:sym typeface="Times New Roman MT"/>
              </a:rPr>
              <a:t>Vb is ,</a:t>
            </a:r>
          </a:p>
        </p:txBody>
      </p:sp>
      <p:sp>
        <p:nvSpPr>
          <p:cNvPr name="Freeform 23" id="23"/>
          <p:cNvSpPr/>
          <p:nvPr/>
        </p:nvSpPr>
        <p:spPr>
          <a:xfrm flipH="false" flipV="false" rot="0">
            <a:off x="13494184" y="496877"/>
            <a:ext cx="3765116" cy="1063645"/>
          </a:xfrm>
          <a:custGeom>
            <a:avLst/>
            <a:gdLst/>
            <a:ahLst/>
            <a:cxnLst/>
            <a:rect r="r" b="b" t="t" l="l"/>
            <a:pathLst>
              <a:path h="1063645" w="3765116">
                <a:moveTo>
                  <a:pt x="0" y="0"/>
                </a:moveTo>
                <a:lnTo>
                  <a:pt x="3765116" y="0"/>
                </a:lnTo>
                <a:lnTo>
                  <a:pt x="3765116" y="1063646"/>
                </a:lnTo>
                <a:lnTo>
                  <a:pt x="0" y="1063646"/>
                </a:lnTo>
                <a:lnTo>
                  <a:pt x="0" y="0"/>
                </a:lnTo>
                <a:close/>
              </a:path>
            </a:pathLst>
          </a:custGeom>
          <a:blipFill>
            <a:blip r:embed="rId12"/>
            <a:stretch>
              <a:fillRect l="0" t="0" r="0" b="0"/>
            </a:stretch>
          </a:blipFill>
        </p:spPr>
      </p:sp>
    </p:spTree>
  </p:cSld>
  <p:clrMapOvr>
    <a:masterClrMapping/>
  </p:clrMapOvr>
  <p:transition spd="fast">
    <p:push dir="l"/>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1950817" y="2143906"/>
            <a:ext cx="4036194" cy="1765116"/>
          </a:xfrm>
          <a:prstGeom prst="rect">
            <a:avLst/>
          </a:prstGeom>
        </p:spPr>
      </p:pic>
      <p:pic>
        <p:nvPicPr>
          <p:cNvPr name="Picture 3" id="3"/>
          <p:cNvPicPr>
            <a:picLocks noChangeAspect="true"/>
          </p:cNvPicPr>
          <p:nvPr/>
        </p:nvPicPr>
        <p:blipFill>
          <a:blip r:embed="rId3"/>
          <a:stretch>
            <a:fillRect/>
          </a:stretch>
        </p:blipFill>
        <p:spPr>
          <a:xfrm rot="0">
            <a:off x="5942606" y="2781671"/>
            <a:ext cx="561583" cy="489585"/>
          </a:xfrm>
          <a:prstGeom prst="rect">
            <a:avLst/>
          </a:prstGeom>
        </p:spPr>
      </p:pic>
      <p:pic>
        <p:nvPicPr>
          <p:cNvPr name="Picture 4" id="4"/>
          <p:cNvPicPr>
            <a:picLocks noChangeAspect="true"/>
          </p:cNvPicPr>
          <p:nvPr/>
        </p:nvPicPr>
        <p:blipFill>
          <a:blip r:embed="rId4"/>
          <a:stretch>
            <a:fillRect/>
          </a:stretch>
        </p:blipFill>
        <p:spPr>
          <a:xfrm rot="0">
            <a:off x="6438428" y="2086624"/>
            <a:ext cx="4342362" cy="1879680"/>
          </a:xfrm>
          <a:prstGeom prst="rect">
            <a:avLst/>
          </a:prstGeom>
        </p:spPr>
      </p:pic>
      <p:pic>
        <p:nvPicPr>
          <p:cNvPr name="Picture 5" id="5"/>
          <p:cNvPicPr>
            <a:picLocks noChangeAspect="true"/>
          </p:cNvPicPr>
          <p:nvPr/>
        </p:nvPicPr>
        <p:blipFill>
          <a:blip r:embed="rId5"/>
          <a:stretch>
            <a:fillRect/>
          </a:stretch>
        </p:blipFill>
        <p:spPr>
          <a:xfrm rot="0">
            <a:off x="10653016" y="2781671"/>
            <a:ext cx="561583" cy="489585"/>
          </a:xfrm>
          <a:prstGeom prst="rect">
            <a:avLst/>
          </a:prstGeom>
        </p:spPr>
      </p:pic>
      <p:grpSp>
        <p:nvGrpSpPr>
          <p:cNvPr name="Group 6" id="6"/>
          <p:cNvGrpSpPr/>
          <p:nvPr/>
        </p:nvGrpSpPr>
        <p:grpSpPr>
          <a:xfrm rot="0">
            <a:off x="11167801" y="2609821"/>
            <a:ext cx="3115868" cy="811977"/>
            <a:chOff x="0" y="0"/>
            <a:chExt cx="820640" cy="213854"/>
          </a:xfrm>
        </p:grpSpPr>
        <p:sp>
          <p:nvSpPr>
            <p:cNvPr name="Freeform 7" id="7"/>
            <p:cNvSpPr/>
            <p:nvPr/>
          </p:nvSpPr>
          <p:spPr>
            <a:xfrm flipH="false" flipV="false" rot="0">
              <a:off x="0" y="0"/>
              <a:ext cx="820640" cy="213854"/>
            </a:xfrm>
            <a:custGeom>
              <a:avLst/>
              <a:gdLst/>
              <a:ahLst/>
              <a:cxnLst/>
              <a:rect r="r" b="b" t="t" l="l"/>
              <a:pathLst>
                <a:path h="213854" w="820640">
                  <a:moveTo>
                    <a:pt x="0" y="0"/>
                  </a:moveTo>
                  <a:lnTo>
                    <a:pt x="820640" y="0"/>
                  </a:lnTo>
                  <a:lnTo>
                    <a:pt x="820640" y="213854"/>
                  </a:lnTo>
                  <a:lnTo>
                    <a:pt x="0" y="213854"/>
                  </a:lnTo>
                  <a:close/>
                </a:path>
              </a:pathLst>
            </a:custGeom>
            <a:solidFill>
              <a:srgbClr val="FFFFFF"/>
            </a:solidFill>
            <a:ln w="28575" cap="sq">
              <a:solidFill>
                <a:srgbClr val="000000"/>
              </a:solidFill>
              <a:prstDash val="solid"/>
              <a:miter/>
            </a:ln>
          </p:spPr>
        </p:sp>
        <p:sp>
          <p:nvSpPr>
            <p:cNvPr name="TextBox 8" id="8"/>
            <p:cNvSpPr txBox="true"/>
            <p:nvPr/>
          </p:nvSpPr>
          <p:spPr>
            <a:xfrm>
              <a:off x="0" y="-19050"/>
              <a:ext cx="820640" cy="232904"/>
            </a:xfrm>
            <a:prstGeom prst="rect">
              <a:avLst/>
            </a:prstGeom>
          </p:spPr>
          <p:txBody>
            <a:bodyPr anchor="ctr" rtlCol="false" tIns="50800" lIns="50800" bIns="50800" rIns="50800"/>
            <a:lstStyle/>
            <a:p>
              <a:pPr algn="ctr">
                <a:lnSpc>
                  <a:spcPts val="2063"/>
                </a:lnSpc>
              </a:pPr>
            </a:p>
          </p:txBody>
        </p:sp>
      </p:grpSp>
      <p:pic>
        <p:nvPicPr>
          <p:cNvPr name="Picture 9" id="9"/>
          <p:cNvPicPr>
            <a:picLocks noChangeAspect="true"/>
          </p:cNvPicPr>
          <p:nvPr/>
        </p:nvPicPr>
        <p:blipFill>
          <a:blip r:embed="rId6"/>
          <a:stretch>
            <a:fillRect/>
          </a:stretch>
        </p:blipFill>
        <p:spPr>
          <a:xfrm rot="0">
            <a:off x="11166616" y="2573007"/>
            <a:ext cx="3065560" cy="885607"/>
          </a:xfrm>
          <a:prstGeom prst="rect">
            <a:avLst/>
          </a:prstGeom>
        </p:spPr>
      </p:pic>
      <p:sp>
        <p:nvSpPr>
          <p:cNvPr name="TextBox 10" id="10"/>
          <p:cNvSpPr txBox="true"/>
          <p:nvPr/>
        </p:nvSpPr>
        <p:spPr>
          <a:xfrm rot="0">
            <a:off x="1028700" y="923925"/>
            <a:ext cx="9507041" cy="512445"/>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Times New Roman MT"/>
                <a:ea typeface="Times New Roman MT"/>
                <a:cs typeface="Times New Roman MT"/>
                <a:sym typeface="Times New Roman MT"/>
              </a:rPr>
              <a:t>For the differential Pair Transistor M2 &amp; M3 , the (W/L)2-3 is , </a:t>
            </a:r>
          </a:p>
        </p:txBody>
      </p:sp>
      <p:sp>
        <p:nvSpPr>
          <p:cNvPr name="TextBox 11" id="11"/>
          <p:cNvSpPr txBox="true"/>
          <p:nvPr/>
        </p:nvSpPr>
        <p:spPr>
          <a:xfrm rot="0">
            <a:off x="-139959" y="4347210"/>
            <a:ext cx="15408653" cy="512445"/>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Times New Roman MT"/>
                <a:ea typeface="Times New Roman MT"/>
                <a:cs typeface="Times New Roman MT"/>
                <a:sym typeface="Times New Roman MT"/>
              </a:rPr>
              <a:t>For the main current mirror M4 &amp; M5 , and the cascade mirror M6 &amp; M7  the (W/L) is ,</a:t>
            </a:r>
          </a:p>
        </p:txBody>
      </p:sp>
      <p:sp>
        <p:nvSpPr>
          <p:cNvPr name="TextBox 12" id="12"/>
          <p:cNvSpPr txBox="true"/>
          <p:nvPr/>
        </p:nvSpPr>
        <p:spPr>
          <a:xfrm rot="0">
            <a:off x="1247976" y="5144624"/>
            <a:ext cx="1086164" cy="538480"/>
          </a:xfrm>
          <a:prstGeom prst="rect">
            <a:avLst/>
          </a:prstGeom>
        </p:spPr>
        <p:txBody>
          <a:bodyPr anchor="t" rtlCol="false" tIns="0" lIns="0" bIns="0" rIns="0">
            <a:spAutoFit/>
          </a:bodyPr>
          <a:lstStyle/>
          <a:p>
            <a:pPr algn="ctr">
              <a:lnSpc>
                <a:spcPts val="3919"/>
              </a:lnSpc>
              <a:spcBef>
                <a:spcPct val="0"/>
              </a:spcBef>
            </a:pPr>
            <a:r>
              <a:rPr lang="en-US" sz="2799">
                <a:solidFill>
                  <a:srgbClr val="000000"/>
                </a:solidFill>
                <a:latin typeface="Times New Roman MT"/>
                <a:ea typeface="Times New Roman MT"/>
                <a:cs typeface="Times New Roman MT"/>
                <a:sym typeface="Times New Roman MT"/>
              </a:rPr>
              <a:t>n = 1</a:t>
            </a:r>
          </a:p>
        </p:txBody>
      </p:sp>
      <p:pic>
        <p:nvPicPr>
          <p:cNvPr name="Picture 13" id="13"/>
          <p:cNvPicPr>
            <a:picLocks noChangeAspect="true"/>
          </p:cNvPicPr>
          <p:nvPr/>
        </p:nvPicPr>
        <p:blipFill>
          <a:blip r:embed="rId7"/>
          <a:stretch>
            <a:fillRect/>
          </a:stretch>
        </p:blipFill>
        <p:spPr>
          <a:xfrm rot="0">
            <a:off x="1856261" y="6333402"/>
            <a:ext cx="4296840" cy="1808557"/>
          </a:xfrm>
          <a:prstGeom prst="rect">
            <a:avLst/>
          </a:prstGeom>
        </p:spPr>
      </p:pic>
      <p:pic>
        <p:nvPicPr>
          <p:cNvPr name="Picture 14" id="14"/>
          <p:cNvPicPr>
            <a:picLocks noChangeAspect="true"/>
          </p:cNvPicPr>
          <p:nvPr/>
        </p:nvPicPr>
        <p:blipFill>
          <a:blip r:embed="rId8"/>
          <a:stretch>
            <a:fillRect/>
          </a:stretch>
        </p:blipFill>
        <p:spPr>
          <a:xfrm rot="0">
            <a:off x="5978373" y="6992887"/>
            <a:ext cx="561583" cy="489585"/>
          </a:xfrm>
          <a:prstGeom prst="rect">
            <a:avLst/>
          </a:prstGeom>
        </p:spPr>
      </p:pic>
      <p:pic>
        <p:nvPicPr>
          <p:cNvPr name="Picture 15" id="15"/>
          <p:cNvPicPr>
            <a:picLocks noChangeAspect="true"/>
          </p:cNvPicPr>
          <p:nvPr/>
        </p:nvPicPr>
        <p:blipFill>
          <a:blip r:embed="rId9"/>
          <a:stretch>
            <a:fillRect/>
          </a:stretch>
        </p:blipFill>
        <p:spPr>
          <a:xfrm rot="0">
            <a:off x="6353573" y="6277737"/>
            <a:ext cx="4583604" cy="1919887"/>
          </a:xfrm>
          <a:prstGeom prst="rect">
            <a:avLst/>
          </a:prstGeom>
        </p:spPr>
      </p:pic>
      <p:pic>
        <p:nvPicPr>
          <p:cNvPr name="Picture 16" id="16"/>
          <p:cNvPicPr>
            <a:picLocks noChangeAspect="true"/>
          </p:cNvPicPr>
          <p:nvPr/>
        </p:nvPicPr>
        <p:blipFill>
          <a:blip r:embed="rId10"/>
          <a:stretch>
            <a:fillRect/>
          </a:stretch>
        </p:blipFill>
        <p:spPr>
          <a:xfrm rot="0">
            <a:off x="10688784" y="6992887"/>
            <a:ext cx="561583" cy="489585"/>
          </a:xfrm>
          <a:prstGeom prst="rect">
            <a:avLst/>
          </a:prstGeom>
        </p:spPr>
      </p:pic>
      <p:grpSp>
        <p:nvGrpSpPr>
          <p:cNvPr name="Group 17" id="17"/>
          <p:cNvGrpSpPr/>
          <p:nvPr/>
        </p:nvGrpSpPr>
        <p:grpSpPr>
          <a:xfrm rot="0">
            <a:off x="11203569" y="6821037"/>
            <a:ext cx="3115868" cy="811977"/>
            <a:chOff x="0" y="0"/>
            <a:chExt cx="820640" cy="213854"/>
          </a:xfrm>
        </p:grpSpPr>
        <p:sp>
          <p:nvSpPr>
            <p:cNvPr name="Freeform 18" id="18"/>
            <p:cNvSpPr/>
            <p:nvPr/>
          </p:nvSpPr>
          <p:spPr>
            <a:xfrm flipH="false" flipV="false" rot="0">
              <a:off x="0" y="0"/>
              <a:ext cx="820640" cy="213854"/>
            </a:xfrm>
            <a:custGeom>
              <a:avLst/>
              <a:gdLst/>
              <a:ahLst/>
              <a:cxnLst/>
              <a:rect r="r" b="b" t="t" l="l"/>
              <a:pathLst>
                <a:path h="213854" w="820640">
                  <a:moveTo>
                    <a:pt x="0" y="0"/>
                  </a:moveTo>
                  <a:lnTo>
                    <a:pt x="820640" y="0"/>
                  </a:lnTo>
                  <a:lnTo>
                    <a:pt x="820640" y="213854"/>
                  </a:lnTo>
                  <a:lnTo>
                    <a:pt x="0" y="213854"/>
                  </a:lnTo>
                  <a:close/>
                </a:path>
              </a:pathLst>
            </a:custGeom>
            <a:solidFill>
              <a:srgbClr val="FFFFFF"/>
            </a:solidFill>
            <a:ln w="28575" cap="sq">
              <a:solidFill>
                <a:srgbClr val="000000"/>
              </a:solidFill>
              <a:prstDash val="solid"/>
              <a:miter/>
            </a:ln>
          </p:spPr>
        </p:sp>
        <p:sp>
          <p:nvSpPr>
            <p:cNvPr name="TextBox 19" id="19"/>
            <p:cNvSpPr txBox="true"/>
            <p:nvPr/>
          </p:nvSpPr>
          <p:spPr>
            <a:xfrm>
              <a:off x="0" y="-19050"/>
              <a:ext cx="820640" cy="232904"/>
            </a:xfrm>
            <a:prstGeom prst="rect">
              <a:avLst/>
            </a:prstGeom>
          </p:spPr>
          <p:txBody>
            <a:bodyPr anchor="ctr" rtlCol="false" tIns="50800" lIns="50800" bIns="50800" rIns="50800"/>
            <a:lstStyle/>
            <a:p>
              <a:pPr algn="ctr">
                <a:lnSpc>
                  <a:spcPts val="2063"/>
                </a:lnSpc>
              </a:pPr>
            </a:p>
          </p:txBody>
        </p:sp>
      </p:grpSp>
      <p:pic>
        <p:nvPicPr>
          <p:cNvPr name="Picture 20" id="20"/>
          <p:cNvPicPr>
            <a:picLocks noChangeAspect="true"/>
          </p:cNvPicPr>
          <p:nvPr/>
        </p:nvPicPr>
        <p:blipFill>
          <a:blip r:embed="rId11"/>
          <a:stretch>
            <a:fillRect/>
          </a:stretch>
        </p:blipFill>
        <p:spPr>
          <a:xfrm rot="0">
            <a:off x="11549814" y="6842128"/>
            <a:ext cx="2370700" cy="769797"/>
          </a:xfrm>
          <a:prstGeom prst="rect">
            <a:avLst/>
          </a:prstGeom>
        </p:spPr>
      </p:pic>
      <p:sp>
        <p:nvSpPr>
          <p:cNvPr name="Freeform 21" id="21"/>
          <p:cNvSpPr/>
          <p:nvPr/>
        </p:nvSpPr>
        <p:spPr>
          <a:xfrm flipH="false" flipV="false" rot="0">
            <a:off x="13494184" y="496877"/>
            <a:ext cx="3765116" cy="1063645"/>
          </a:xfrm>
          <a:custGeom>
            <a:avLst/>
            <a:gdLst/>
            <a:ahLst/>
            <a:cxnLst/>
            <a:rect r="r" b="b" t="t" l="l"/>
            <a:pathLst>
              <a:path h="1063645" w="3765116">
                <a:moveTo>
                  <a:pt x="0" y="0"/>
                </a:moveTo>
                <a:lnTo>
                  <a:pt x="3765116" y="0"/>
                </a:lnTo>
                <a:lnTo>
                  <a:pt x="3765116" y="1063646"/>
                </a:lnTo>
                <a:lnTo>
                  <a:pt x="0" y="1063646"/>
                </a:lnTo>
                <a:lnTo>
                  <a:pt x="0" y="0"/>
                </a:lnTo>
                <a:close/>
              </a:path>
            </a:pathLst>
          </a:custGeom>
          <a:blipFill>
            <a:blip r:embed="rId12"/>
            <a:stretch>
              <a:fillRect l="0" t="0" r="0" b="0"/>
            </a:stretch>
          </a:blipFill>
        </p:spPr>
      </p:sp>
    </p:spTree>
  </p:cSld>
  <p:clrMapOvr>
    <a:masterClrMapping/>
  </p:clrMapOvr>
  <p:transition spd="fast">
    <p:push dir="l"/>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2993360" y="1834345"/>
            <a:ext cx="1951108" cy="1417602"/>
          </a:xfrm>
          <a:prstGeom prst="rect">
            <a:avLst/>
          </a:prstGeom>
        </p:spPr>
      </p:pic>
      <p:pic>
        <p:nvPicPr>
          <p:cNvPr name="Picture 3" id="3"/>
          <p:cNvPicPr>
            <a:picLocks noChangeAspect="true"/>
          </p:cNvPicPr>
          <p:nvPr/>
        </p:nvPicPr>
        <p:blipFill>
          <a:blip r:embed="rId3"/>
          <a:stretch>
            <a:fillRect/>
          </a:stretch>
        </p:blipFill>
        <p:spPr>
          <a:xfrm rot="0">
            <a:off x="5942606" y="2336453"/>
            <a:ext cx="561583" cy="489585"/>
          </a:xfrm>
          <a:prstGeom prst="rect">
            <a:avLst/>
          </a:prstGeom>
        </p:spPr>
      </p:pic>
      <p:pic>
        <p:nvPicPr>
          <p:cNvPr name="Picture 4" id="4"/>
          <p:cNvPicPr>
            <a:picLocks noChangeAspect="true"/>
          </p:cNvPicPr>
          <p:nvPr/>
        </p:nvPicPr>
        <p:blipFill>
          <a:blip r:embed="rId4"/>
          <a:stretch>
            <a:fillRect/>
          </a:stretch>
        </p:blipFill>
        <p:spPr>
          <a:xfrm rot="0">
            <a:off x="7569250" y="1829877"/>
            <a:ext cx="2080715" cy="1502739"/>
          </a:xfrm>
          <a:prstGeom prst="rect">
            <a:avLst/>
          </a:prstGeom>
        </p:spPr>
      </p:pic>
      <p:pic>
        <p:nvPicPr>
          <p:cNvPr name="Picture 5" id="5"/>
          <p:cNvPicPr>
            <a:picLocks noChangeAspect="true"/>
          </p:cNvPicPr>
          <p:nvPr/>
        </p:nvPicPr>
        <p:blipFill>
          <a:blip r:embed="rId5"/>
          <a:stretch>
            <a:fillRect/>
          </a:stretch>
        </p:blipFill>
        <p:spPr>
          <a:xfrm rot="0">
            <a:off x="10653016" y="2365028"/>
            <a:ext cx="561583" cy="489585"/>
          </a:xfrm>
          <a:prstGeom prst="rect">
            <a:avLst/>
          </a:prstGeom>
        </p:spPr>
      </p:pic>
      <p:grpSp>
        <p:nvGrpSpPr>
          <p:cNvPr name="Group 6" id="6"/>
          <p:cNvGrpSpPr/>
          <p:nvPr/>
        </p:nvGrpSpPr>
        <p:grpSpPr>
          <a:xfrm rot="0">
            <a:off x="11848908" y="2194307"/>
            <a:ext cx="1706683" cy="811977"/>
            <a:chOff x="0" y="0"/>
            <a:chExt cx="449497" cy="213854"/>
          </a:xfrm>
        </p:grpSpPr>
        <p:sp>
          <p:nvSpPr>
            <p:cNvPr name="Freeform 7" id="7"/>
            <p:cNvSpPr/>
            <p:nvPr/>
          </p:nvSpPr>
          <p:spPr>
            <a:xfrm flipH="false" flipV="false" rot="0">
              <a:off x="0" y="0"/>
              <a:ext cx="449497" cy="213854"/>
            </a:xfrm>
            <a:custGeom>
              <a:avLst/>
              <a:gdLst/>
              <a:ahLst/>
              <a:cxnLst/>
              <a:rect r="r" b="b" t="t" l="l"/>
              <a:pathLst>
                <a:path h="213854" w="449497">
                  <a:moveTo>
                    <a:pt x="0" y="0"/>
                  </a:moveTo>
                  <a:lnTo>
                    <a:pt x="449497" y="0"/>
                  </a:lnTo>
                  <a:lnTo>
                    <a:pt x="449497" y="213854"/>
                  </a:lnTo>
                  <a:lnTo>
                    <a:pt x="0" y="213854"/>
                  </a:lnTo>
                  <a:close/>
                </a:path>
              </a:pathLst>
            </a:custGeom>
            <a:solidFill>
              <a:srgbClr val="FFFFFF"/>
            </a:solidFill>
            <a:ln w="28575" cap="sq">
              <a:solidFill>
                <a:srgbClr val="000000"/>
              </a:solidFill>
              <a:prstDash val="solid"/>
              <a:miter/>
            </a:ln>
          </p:spPr>
        </p:sp>
        <p:sp>
          <p:nvSpPr>
            <p:cNvPr name="TextBox 8" id="8"/>
            <p:cNvSpPr txBox="true"/>
            <p:nvPr/>
          </p:nvSpPr>
          <p:spPr>
            <a:xfrm>
              <a:off x="0" y="-19050"/>
              <a:ext cx="449497" cy="232904"/>
            </a:xfrm>
            <a:prstGeom prst="rect">
              <a:avLst/>
            </a:prstGeom>
          </p:spPr>
          <p:txBody>
            <a:bodyPr anchor="ctr" rtlCol="false" tIns="50800" lIns="50800" bIns="50800" rIns="50800"/>
            <a:lstStyle/>
            <a:p>
              <a:pPr algn="ctr">
                <a:lnSpc>
                  <a:spcPts val="2063"/>
                </a:lnSpc>
              </a:pPr>
            </a:p>
          </p:txBody>
        </p:sp>
      </p:grpSp>
      <p:pic>
        <p:nvPicPr>
          <p:cNvPr name="Picture 9" id="9"/>
          <p:cNvPicPr>
            <a:picLocks noChangeAspect="true"/>
          </p:cNvPicPr>
          <p:nvPr/>
        </p:nvPicPr>
        <p:blipFill>
          <a:blip r:embed="rId6"/>
          <a:stretch>
            <a:fillRect/>
          </a:stretch>
        </p:blipFill>
        <p:spPr>
          <a:xfrm rot="0">
            <a:off x="12106721" y="2323702"/>
            <a:ext cx="1185350" cy="572238"/>
          </a:xfrm>
          <a:prstGeom prst="rect">
            <a:avLst/>
          </a:prstGeom>
        </p:spPr>
      </p:pic>
      <p:sp>
        <p:nvSpPr>
          <p:cNvPr name="TextBox 10" id="10"/>
          <p:cNvSpPr txBox="true"/>
          <p:nvPr/>
        </p:nvSpPr>
        <p:spPr>
          <a:xfrm rot="0">
            <a:off x="1028700" y="923925"/>
            <a:ext cx="9507041" cy="512445"/>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Times New Roman MT"/>
                <a:ea typeface="Times New Roman MT"/>
                <a:cs typeface="Times New Roman MT"/>
                <a:sym typeface="Times New Roman MT"/>
              </a:rPr>
              <a:t>For the Diode connected Transistor M8 , the (W/L)8 is ,</a:t>
            </a:r>
          </a:p>
        </p:txBody>
      </p:sp>
      <p:sp>
        <p:nvSpPr>
          <p:cNvPr name="TextBox 11" id="11"/>
          <p:cNvSpPr txBox="true"/>
          <p:nvPr/>
        </p:nvSpPr>
        <p:spPr>
          <a:xfrm rot="0">
            <a:off x="1028700" y="3854080"/>
            <a:ext cx="4753521" cy="512445"/>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Times New Roman MT"/>
                <a:ea typeface="Times New Roman MT"/>
                <a:cs typeface="Times New Roman MT"/>
                <a:sym typeface="Times New Roman MT"/>
              </a:rPr>
              <a:t>For the Output Voltage ,</a:t>
            </a:r>
          </a:p>
        </p:txBody>
      </p:sp>
      <p:pic>
        <p:nvPicPr>
          <p:cNvPr name="Picture 12" id="12"/>
          <p:cNvPicPr>
            <a:picLocks noChangeAspect="true"/>
          </p:cNvPicPr>
          <p:nvPr/>
        </p:nvPicPr>
        <p:blipFill>
          <a:blip r:embed="rId7"/>
          <a:stretch>
            <a:fillRect/>
          </a:stretch>
        </p:blipFill>
        <p:spPr>
          <a:xfrm rot="0">
            <a:off x="1968089" y="4756993"/>
            <a:ext cx="4001650" cy="1026064"/>
          </a:xfrm>
          <a:prstGeom prst="rect">
            <a:avLst/>
          </a:prstGeom>
        </p:spPr>
      </p:pic>
      <p:pic>
        <p:nvPicPr>
          <p:cNvPr name="Picture 13" id="13"/>
          <p:cNvPicPr>
            <a:picLocks noChangeAspect="true"/>
          </p:cNvPicPr>
          <p:nvPr/>
        </p:nvPicPr>
        <p:blipFill>
          <a:blip r:embed="rId8"/>
          <a:stretch>
            <a:fillRect/>
          </a:stretch>
        </p:blipFill>
        <p:spPr>
          <a:xfrm rot="0">
            <a:off x="5999626" y="4843528"/>
            <a:ext cx="2685263" cy="810417"/>
          </a:xfrm>
          <a:prstGeom prst="rect">
            <a:avLst/>
          </a:prstGeom>
        </p:spPr>
      </p:pic>
      <p:grpSp>
        <p:nvGrpSpPr>
          <p:cNvPr name="Group 14" id="14"/>
          <p:cNvGrpSpPr/>
          <p:nvPr/>
        </p:nvGrpSpPr>
        <p:grpSpPr>
          <a:xfrm rot="0">
            <a:off x="12527842" y="4900360"/>
            <a:ext cx="1330900" cy="811977"/>
            <a:chOff x="0" y="0"/>
            <a:chExt cx="350525" cy="213854"/>
          </a:xfrm>
        </p:grpSpPr>
        <p:sp>
          <p:nvSpPr>
            <p:cNvPr name="Freeform 15" id="15"/>
            <p:cNvSpPr/>
            <p:nvPr/>
          </p:nvSpPr>
          <p:spPr>
            <a:xfrm flipH="false" flipV="false" rot="0">
              <a:off x="0" y="0"/>
              <a:ext cx="350525" cy="213854"/>
            </a:xfrm>
            <a:custGeom>
              <a:avLst/>
              <a:gdLst/>
              <a:ahLst/>
              <a:cxnLst/>
              <a:rect r="r" b="b" t="t" l="l"/>
              <a:pathLst>
                <a:path h="213854" w="350525">
                  <a:moveTo>
                    <a:pt x="0" y="0"/>
                  </a:moveTo>
                  <a:lnTo>
                    <a:pt x="350525" y="0"/>
                  </a:lnTo>
                  <a:lnTo>
                    <a:pt x="350525" y="213854"/>
                  </a:lnTo>
                  <a:lnTo>
                    <a:pt x="0" y="213854"/>
                  </a:lnTo>
                  <a:close/>
                </a:path>
              </a:pathLst>
            </a:custGeom>
            <a:solidFill>
              <a:srgbClr val="FFFFFF"/>
            </a:solidFill>
            <a:ln w="28575" cap="sq">
              <a:solidFill>
                <a:srgbClr val="000000"/>
              </a:solidFill>
              <a:prstDash val="solid"/>
              <a:miter/>
            </a:ln>
          </p:spPr>
        </p:sp>
        <p:sp>
          <p:nvSpPr>
            <p:cNvPr name="TextBox 16" id="16"/>
            <p:cNvSpPr txBox="true"/>
            <p:nvPr/>
          </p:nvSpPr>
          <p:spPr>
            <a:xfrm>
              <a:off x="0" y="-19050"/>
              <a:ext cx="350525" cy="232904"/>
            </a:xfrm>
            <a:prstGeom prst="rect">
              <a:avLst/>
            </a:prstGeom>
          </p:spPr>
          <p:txBody>
            <a:bodyPr anchor="ctr" rtlCol="false" tIns="50800" lIns="50800" bIns="50800" rIns="50800"/>
            <a:lstStyle/>
            <a:p>
              <a:pPr algn="ctr">
                <a:lnSpc>
                  <a:spcPts val="2063"/>
                </a:lnSpc>
              </a:pPr>
            </a:p>
          </p:txBody>
        </p:sp>
      </p:grpSp>
      <p:pic>
        <p:nvPicPr>
          <p:cNvPr name="Picture 17" id="17"/>
          <p:cNvPicPr>
            <a:picLocks noChangeAspect="true"/>
          </p:cNvPicPr>
          <p:nvPr/>
        </p:nvPicPr>
        <p:blipFill>
          <a:blip r:embed="rId9"/>
          <a:stretch>
            <a:fillRect/>
          </a:stretch>
        </p:blipFill>
        <p:spPr>
          <a:xfrm rot="0">
            <a:off x="9307097" y="4636361"/>
            <a:ext cx="4828373" cy="1248280"/>
          </a:xfrm>
          <a:prstGeom prst="rect">
            <a:avLst/>
          </a:prstGeom>
        </p:spPr>
      </p:pic>
      <p:pic>
        <p:nvPicPr>
          <p:cNvPr name="Picture 18" id="18"/>
          <p:cNvPicPr>
            <a:picLocks noChangeAspect="true"/>
          </p:cNvPicPr>
          <p:nvPr/>
        </p:nvPicPr>
        <p:blipFill>
          <a:blip r:embed="rId10"/>
          <a:stretch>
            <a:fillRect/>
          </a:stretch>
        </p:blipFill>
        <p:spPr>
          <a:xfrm rot="0">
            <a:off x="1780040" y="6150107"/>
            <a:ext cx="6258236" cy="1423314"/>
          </a:xfrm>
          <a:prstGeom prst="rect">
            <a:avLst/>
          </a:prstGeom>
        </p:spPr>
      </p:pic>
      <p:pic>
        <p:nvPicPr>
          <p:cNvPr name="Picture 19" id="19"/>
          <p:cNvPicPr>
            <a:picLocks noChangeAspect="true"/>
          </p:cNvPicPr>
          <p:nvPr/>
        </p:nvPicPr>
        <p:blipFill>
          <a:blip r:embed="rId11"/>
          <a:stretch>
            <a:fillRect/>
          </a:stretch>
        </p:blipFill>
        <p:spPr>
          <a:xfrm rot="0">
            <a:off x="7878590" y="6324081"/>
            <a:ext cx="3035362" cy="895043"/>
          </a:xfrm>
          <a:prstGeom prst="rect">
            <a:avLst/>
          </a:prstGeom>
        </p:spPr>
      </p:pic>
      <p:grpSp>
        <p:nvGrpSpPr>
          <p:cNvPr name="Group 20" id="20"/>
          <p:cNvGrpSpPr/>
          <p:nvPr/>
        </p:nvGrpSpPr>
        <p:grpSpPr>
          <a:xfrm rot="0">
            <a:off x="14965651" y="6327514"/>
            <a:ext cx="1495305" cy="811977"/>
            <a:chOff x="0" y="0"/>
            <a:chExt cx="393825" cy="213854"/>
          </a:xfrm>
        </p:grpSpPr>
        <p:sp>
          <p:nvSpPr>
            <p:cNvPr name="Freeform 21" id="21"/>
            <p:cNvSpPr/>
            <p:nvPr/>
          </p:nvSpPr>
          <p:spPr>
            <a:xfrm flipH="false" flipV="false" rot="0">
              <a:off x="0" y="0"/>
              <a:ext cx="393825" cy="213854"/>
            </a:xfrm>
            <a:custGeom>
              <a:avLst/>
              <a:gdLst/>
              <a:ahLst/>
              <a:cxnLst/>
              <a:rect r="r" b="b" t="t" l="l"/>
              <a:pathLst>
                <a:path h="213854" w="393825">
                  <a:moveTo>
                    <a:pt x="0" y="0"/>
                  </a:moveTo>
                  <a:lnTo>
                    <a:pt x="393825" y="0"/>
                  </a:lnTo>
                  <a:lnTo>
                    <a:pt x="393825" y="213854"/>
                  </a:lnTo>
                  <a:lnTo>
                    <a:pt x="0" y="213854"/>
                  </a:lnTo>
                  <a:close/>
                </a:path>
              </a:pathLst>
            </a:custGeom>
            <a:solidFill>
              <a:srgbClr val="FFFFFF"/>
            </a:solidFill>
            <a:ln w="28575" cap="sq">
              <a:solidFill>
                <a:srgbClr val="000000"/>
              </a:solidFill>
              <a:prstDash val="solid"/>
              <a:miter/>
            </a:ln>
          </p:spPr>
        </p:sp>
        <p:sp>
          <p:nvSpPr>
            <p:cNvPr name="TextBox 22" id="22"/>
            <p:cNvSpPr txBox="true"/>
            <p:nvPr/>
          </p:nvSpPr>
          <p:spPr>
            <a:xfrm>
              <a:off x="0" y="-19050"/>
              <a:ext cx="393825" cy="232904"/>
            </a:xfrm>
            <a:prstGeom prst="rect">
              <a:avLst/>
            </a:prstGeom>
          </p:spPr>
          <p:txBody>
            <a:bodyPr anchor="ctr" rtlCol="false" tIns="50800" lIns="50800" bIns="50800" rIns="50800"/>
            <a:lstStyle/>
            <a:p>
              <a:pPr algn="ctr">
                <a:lnSpc>
                  <a:spcPts val="2063"/>
                </a:lnSpc>
              </a:pPr>
            </a:p>
          </p:txBody>
        </p:sp>
      </p:grpSp>
      <p:pic>
        <p:nvPicPr>
          <p:cNvPr name="Picture 23" id="23"/>
          <p:cNvPicPr>
            <a:picLocks noChangeAspect="true"/>
          </p:cNvPicPr>
          <p:nvPr/>
        </p:nvPicPr>
        <p:blipFill>
          <a:blip r:embed="rId12"/>
          <a:stretch>
            <a:fillRect/>
          </a:stretch>
        </p:blipFill>
        <p:spPr>
          <a:xfrm rot="0">
            <a:off x="11404144" y="6137555"/>
            <a:ext cx="5337172" cy="1372219"/>
          </a:xfrm>
          <a:prstGeom prst="rect">
            <a:avLst/>
          </a:prstGeom>
        </p:spPr>
      </p:pic>
      <p:pic>
        <p:nvPicPr>
          <p:cNvPr name="Picture 24" id="24"/>
          <p:cNvPicPr>
            <a:picLocks noChangeAspect="true"/>
          </p:cNvPicPr>
          <p:nvPr/>
        </p:nvPicPr>
        <p:blipFill>
          <a:blip r:embed="rId13"/>
          <a:stretch>
            <a:fillRect/>
          </a:stretch>
        </p:blipFill>
        <p:spPr>
          <a:xfrm rot="0">
            <a:off x="4063442" y="7007279"/>
            <a:ext cx="9738360" cy="2039229"/>
          </a:xfrm>
          <a:prstGeom prst="rect">
            <a:avLst/>
          </a:prstGeom>
        </p:spPr>
      </p:pic>
      <p:grpSp>
        <p:nvGrpSpPr>
          <p:cNvPr name="Group 25" id="25"/>
          <p:cNvGrpSpPr/>
          <p:nvPr/>
        </p:nvGrpSpPr>
        <p:grpSpPr>
          <a:xfrm rot="0">
            <a:off x="9476572" y="8705073"/>
            <a:ext cx="1457236" cy="811977"/>
            <a:chOff x="0" y="0"/>
            <a:chExt cx="383799" cy="213854"/>
          </a:xfrm>
        </p:grpSpPr>
        <p:sp>
          <p:nvSpPr>
            <p:cNvPr name="Freeform 26" id="26"/>
            <p:cNvSpPr/>
            <p:nvPr/>
          </p:nvSpPr>
          <p:spPr>
            <a:xfrm flipH="false" flipV="false" rot="0">
              <a:off x="0" y="0"/>
              <a:ext cx="383799" cy="213854"/>
            </a:xfrm>
            <a:custGeom>
              <a:avLst/>
              <a:gdLst/>
              <a:ahLst/>
              <a:cxnLst/>
              <a:rect r="r" b="b" t="t" l="l"/>
              <a:pathLst>
                <a:path h="213854" w="383799">
                  <a:moveTo>
                    <a:pt x="0" y="0"/>
                  </a:moveTo>
                  <a:lnTo>
                    <a:pt x="383799" y="0"/>
                  </a:lnTo>
                  <a:lnTo>
                    <a:pt x="383799" y="213854"/>
                  </a:lnTo>
                  <a:lnTo>
                    <a:pt x="0" y="213854"/>
                  </a:lnTo>
                  <a:close/>
                </a:path>
              </a:pathLst>
            </a:custGeom>
            <a:solidFill>
              <a:srgbClr val="FFFFFF"/>
            </a:solidFill>
            <a:ln w="28575" cap="sq">
              <a:solidFill>
                <a:srgbClr val="000000"/>
              </a:solidFill>
              <a:prstDash val="solid"/>
              <a:miter/>
            </a:ln>
          </p:spPr>
        </p:sp>
        <p:sp>
          <p:nvSpPr>
            <p:cNvPr name="TextBox 27" id="27"/>
            <p:cNvSpPr txBox="true"/>
            <p:nvPr/>
          </p:nvSpPr>
          <p:spPr>
            <a:xfrm>
              <a:off x="0" y="-19050"/>
              <a:ext cx="383799" cy="232904"/>
            </a:xfrm>
            <a:prstGeom prst="rect">
              <a:avLst/>
            </a:prstGeom>
          </p:spPr>
          <p:txBody>
            <a:bodyPr anchor="ctr" rtlCol="false" tIns="50800" lIns="50800" bIns="50800" rIns="50800"/>
            <a:lstStyle/>
            <a:p>
              <a:pPr algn="ctr">
                <a:lnSpc>
                  <a:spcPts val="2063"/>
                </a:lnSpc>
              </a:pPr>
            </a:p>
          </p:txBody>
        </p:sp>
      </p:grpSp>
      <p:pic>
        <p:nvPicPr>
          <p:cNvPr name="Picture 28" id="28"/>
          <p:cNvPicPr>
            <a:picLocks noChangeAspect="true"/>
          </p:cNvPicPr>
          <p:nvPr/>
        </p:nvPicPr>
        <p:blipFill>
          <a:blip r:embed="rId14"/>
          <a:stretch>
            <a:fillRect/>
          </a:stretch>
        </p:blipFill>
        <p:spPr>
          <a:xfrm rot="0">
            <a:off x="5712608" y="8429885"/>
            <a:ext cx="5449414" cy="1362354"/>
          </a:xfrm>
          <a:prstGeom prst="rect">
            <a:avLst/>
          </a:prstGeom>
        </p:spPr>
      </p:pic>
      <p:sp>
        <p:nvSpPr>
          <p:cNvPr name="Freeform 29" id="29"/>
          <p:cNvSpPr/>
          <p:nvPr/>
        </p:nvSpPr>
        <p:spPr>
          <a:xfrm flipH="false" flipV="false" rot="0">
            <a:off x="13494184" y="496877"/>
            <a:ext cx="3765116" cy="1063645"/>
          </a:xfrm>
          <a:custGeom>
            <a:avLst/>
            <a:gdLst/>
            <a:ahLst/>
            <a:cxnLst/>
            <a:rect r="r" b="b" t="t" l="l"/>
            <a:pathLst>
              <a:path h="1063645" w="3765116">
                <a:moveTo>
                  <a:pt x="0" y="0"/>
                </a:moveTo>
                <a:lnTo>
                  <a:pt x="3765116" y="0"/>
                </a:lnTo>
                <a:lnTo>
                  <a:pt x="3765116" y="1063646"/>
                </a:lnTo>
                <a:lnTo>
                  <a:pt x="0" y="1063646"/>
                </a:lnTo>
                <a:lnTo>
                  <a:pt x="0" y="0"/>
                </a:lnTo>
                <a:close/>
              </a:path>
            </a:pathLst>
          </a:custGeom>
          <a:blipFill>
            <a:blip r:embed="rId15"/>
            <a:stretch>
              <a:fillRect l="0" t="0" r="0" b="0"/>
            </a:stretch>
          </a:blipFill>
        </p:spPr>
      </p:sp>
    </p:spTree>
  </p:cSld>
  <p:clrMapOvr>
    <a:masterClrMapping/>
  </p:clrMapOvr>
  <p:transition spd="fast">
    <p:push dir="l"/>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42698" y="923925"/>
            <a:ext cx="9507041" cy="512445"/>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Times New Roman MT"/>
                <a:ea typeface="Times New Roman MT"/>
                <a:cs typeface="Times New Roman MT"/>
                <a:sym typeface="Times New Roman MT"/>
              </a:rPr>
              <a:t>For the Input Voltage Vin,</a:t>
            </a:r>
          </a:p>
        </p:txBody>
      </p:sp>
      <p:pic>
        <p:nvPicPr>
          <p:cNvPr name="Picture 3" id="3"/>
          <p:cNvPicPr>
            <a:picLocks noChangeAspect="true"/>
          </p:cNvPicPr>
          <p:nvPr/>
        </p:nvPicPr>
        <p:blipFill>
          <a:blip r:embed="rId2"/>
          <a:stretch>
            <a:fillRect/>
          </a:stretch>
        </p:blipFill>
        <p:spPr>
          <a:xfrm rot="0">
            <a:off x="553662" y="1379547"/>
            <a:ext cx="5700451" cy="1323700"/>
          </a:xfrm>
          <a:prstGeom prst="rect">
            <a:avLst/>
          </a:prstGeom>
        </p:spPr>
      </p:pic>
      <p:pic>
        <p:nvPicPr>
          <p:cNvPr name="Picture 4" id="4"/>
          <p:cNvPicPr>
            <a:picLocks noChangeAspect="true"/>
          </p:cNvPicPr>
          <p:nvPr/>
        </p:nvPicPr>
        <p:blipFill>
          <a:blip r:embed="rId3"/>
          <a:stretch>
            <a:fillRect/>
          </a:stretch>
        </p:blipFill>
        <p:spPr>
          <a:xfrm rot="0">
            <a:off x="6392745" y="1572721"/>
            <a:ext cx="3770015" cy="937354"/>
          </a:xfrm>
          <a:prstGeom prst="rect">
            <a:avLst/>
          </a:prstGeom>
        </p:spPr>
      </p:pic>
      <p:grpSp>
        <p:nvGrpSpPr>
          <p:cNvPr name="Group 5" id="5"/>
          <p:cNvGrpSpPr/>
          <p:nvPr/>
        </p:nvGrpSpPr>
        <p:grpSpPr>
          <a:xfrm rot="0">
            <a:off x="13704335" y="1607147"/>
            <a:ext cx="1918061" cy="811977"/>
            <a:chOff x="0" y="0"/>
            <a:chExt cx="505168" cy="213854"/>
          </a:xfrm>
        </p:grpSpPr>
        <p:sp>
          <p:nvSpPr>
            <p:cNvPr name="Freeform 6" id="6"/>
            <p:cNvSpPr/>
            <p:nvPr/>
          </p:nvSpPr>
          <p:spPr>
            <a:xfrm flipH="false" flipV="false" rot="0">
              <a:off x="0" y="0"/>
              <a:ext cx="505168" cy="213854"/>
            </a:xfrm>
            <a:custGeom>
              <a:avLst/>
              <a:gdLst/>
              <a:ahLst/>
              <a:cxnLst/>
              <a:rect r="r" b="b" t="t" l="l"/>
              <a:pathLst>
                <a:path h="213854" w="505168">
                  <a:moveTo>
                    <a:pt x="0" y="0"/>
                  </a:moveTo>
                  <a:lnTo>
                    <a:pt x="505168" y="0"/>
                  </a:lnTo>
                  <a:lnTo>
                    <a:pt x="505168" y="213854"/>
                  </a:lnTo>
                  <a:lnTo>
                    <a:pt x="0" y="213854"/>
                  </a:lnTo>
                  <a:close/>
                </a:path>
              </a:pathLst>
            </a:custGeom>
            <a:solidFill>
              <a:srgbClr val="FFFFFF"/>
            </a:solidFill>
            <a:ln w="28575" cap="sq">
              <a:solidFill>
                <a:srgbClr val="000000"/>
              </a:solidFill>
              <a:prstDash val="solid"/>
              <a:miter/>
            </a:ln>
          </p:spPr>
        </p:sp>
        <p:sp>
          <p:nvSpPr>
            <p:cNvPr name="TextBox 7" id="7"/>
            <p:cNvSpPr txBox="true"/>
            <p:nvPr/>
          </p:nvSpPr>
          <p:spPr>
            <a:xfrm>
              <a:off x="0" y="-19050"/>
              <a:ext cx="505168" cy="232904"/>
            </a:xfrm>
            <a:prstGeom prst="rect">
              <a:avLst/>
            </a:prstGeom>
          </p:spPr>
          <p:txBody>
            <a:bodyPr anchor="ctr" rtlCol="false" tIns="50800" lIns="50800" bIns="50800" rIns="50800"/>
            <a:lstStyle/>
            <a:p>
              <a:pPr algn="ctr">
                <a:lnSpc>
                  <a:spcPts val="2063"/>
                </a:lnSpc>
              </a:pPr>
            </a:p>
          </p:txBody>
        </p:sp>
      </p:grpSp>
      <p:pic>
        <p:nvPicPr>
          <p:cNvPr name="Picture 8" id="8"/>
          <p:cNvPicPr>
            <a:picLocks noChangeAspect="true"/>
          </p:cNvPicPr>
          <p:nvPr/>
        </p:nvPicPr>
        <p:blipFill>
          <a:blip r:embed="rId4"/>
          <a:stretch>
            <a:fillRect/>
          </a:stretch>
        </p:blipFill>
        <p:spPr>
          <a:xfrm rot="0">
            <a:off x="10590576" y="1384637"/>
            <a:ext cx="5254080" cy="1313520"/>
          </a:xfrm>
          <a:prstGeom prst="rect">
            <a:avLst/>
          </a:prstGeom>
        </p:spPr>
      </p:pic>
      <p:pic>
        <p:nvPicPr>
          <p:cNvPr name="Picture 9" id="9"/>
          <p:cNvPicPr>
            <a:picLocks noChangeAspect="true"/>
          </p:cNvPicPr>
          <p:nvPr/>
        </p:nvPicPr>
        <p:blipFill>
          <a:blip r:embed="rId5"/>
          <a:stretch>
            <a:fillRect/>
          </a:stretch>
        </p:blipFill>
        <p:spPr>
          <a:xfrm rot="0">
            <a:off x="355136" y="2306362"/>
            <a:ext cx="8082772" cy="1741685"/>
          </a:xfrm>
          <a:prstGeom prst="rect">
            <a:avLst/>
          </a:prstGeom>
        </p:spPr>
      </p:pic>
      <p:pic>
        <p:nvPicPr>
          <p:cNvPr name="Picture 10" id="10"/>
          <p:cNvPicPr>
            <a:picLocks noChangeAspect="true"/>
          </p:cNvPicPr>
          <p:nvPr/>
        </p:nvPicPr>
        <p:blipFill>
          <a:blip r:embed="rId6"/>
          <a:stretch>
            <a:fillRect/>
          </a:stretch>
        </p:blipFill>
        <p:spPr>
          <a:xfrm rot="0">
            <a:off x="8732117" y="2568043"/>
            <a:ext cx="4942594" cy="1212947"/>
          </a:xfrm>
          <a:prstGeom prst="rect">
            <a:avLst/>
          </a:prstGeom>
        </p:spPr>
      </p:pic>
      <p:grpSp>
        <p:nvGrpSpPr>
          <p:cNvPr name="Group 11" id="11"/>
          <p:cNvGrpSpPr/>
          <p:nvPr/>
        </p:nvGrpSpPr>
        <p:grpSpPr>
          <a:xfrm rot="0">
            <a:off x="8572289" y="3784084"/>
            <a:ext cx="1636223" cy="811977"/>
            <a:chOff x="0" y="0"/>
            <a:chExt cx="430940" cy="213854"/>
          </a:xfrm>
        </p:grpSpPr>
        <p:sp>
          <p:nvSpPr>
            <p:cNvPr name="Freeform 12" id="12"/>
            <p:cNvSpPr/>
            <p:nvPr/>
          </p:nvSpPr>
          <p:spPr>
            <a:xfrm flipH="false" flipV="false" rot="0">
              <a:off x="0" y="0"/>
              <a:ext cx="430940" cy="213854"/>
            </a:xfrm>
            <a:custGeom>
              <a:avLst/>
              <a:gdLst/>
              <a:ahLst/>
              <a:cxnLst/>
              <a:rect r="r" b="b" t="t" l="l"/>
              <a:pathLst>
                <a:path h="213854" w="430940">
                  <a:moveTo>
                    <a:pt x="0" y="0"/>
                  </a:moveTo>
                  <a:lnTo>
                    <a:pt x="430940" y="0"/>
                  </a:lnTo>
                  <a:lnTo>
                    <a:pt x="430940" y="213854"/>
                  </a:lnTo>
                  <a:lnTo>
                    <a:pt x="0" y="213854"/>
                  </a:lnTo>
                  <a:close/>
                </a:path>
              </a:pathLst>
            </a:custGeom>
            <a:solidFill>
              <a:srgbClr val="FFFFFF"/>
            </a:solidFill>
            <a:ln w="28575" cap="sq">
              <a:solidFill>
                <a:srgbClr val="000000"/>
              </a:solidFill>
              <a:prstDash val="solid"/>
              <a:miter/>
            </a:ln>
          </p:spPr>
        </p:sp>
        <p:sp>
          <p:nvSpPr>
            <p:cNvPr name="TextBox 13" id="13"/>
            <p:cNvSpPr txBox="true"/>
            <p:nvPr/>
          </p:nvSpPr>
          <p:spPr>
            <a:xfrm>
              <a:off x="0" y="-19050"/>
              <a:ext cx="430940" cy="232904"/>
            </a:xfrm>
            <a:prstGeom prst="rect">
              <a:avLst/>
            </a:prstGeom>
          </p:spPr>
          <p:txBody>
            <a:bodyPr anchor="ctr" rtlCol="false" tIns="50800" lIns="50800" bIns="50800" rIns="50800"/>
            <a:lstStyle/>
            <a:p>
              <a:pPr algn="ctr">
                <a:lnSpc>
                  <a:spcPts val="2063"/>
                </a:lnSpc>
              </a:pPr>
            </a:p>
          </p:txBody>
        </p:sp>
      </p:grpSp>
      <p:pic>
        <p:nvPicPr>
          <p:cNvPr name="Picture 14" id="14"/>
          <p:cNvPicPr>
            <a:picLocks noChangeAspect="true"/>
          </p:cNvPicPr>
          <p:nvPr/>
        </p:nvPicPr>
        <p:blipFill>
          <a:blip r:embed="rId7"/>
          <a:stretch>
            <a:fillRect/>
          </a:stretch>
        </p:blipFill>
        <p:spPr>
          <a:xfrm rot="0">
            <a:off x="5436449" y="3554556"/>
            <a:ext cx="4957032" cy="1271034"/>
          </a:xfrm>
          <a:prstGeom prst="rect">
            <a:avLst/>
          </a:prstGeom>
        </p:spPr>
      </p:pic>
      <p:sp>
        <p:nvSpPr>
          <p:cNvPr name="TextBox 15" id="15"/>
          <p:cNvSpPr txBox="true"/>
          <p:nvPr/>
        </p:nvSpPr>
        <p:spPr>
          <a:xfrm rot="0">
            <a:off x="-1742698" y="5850778"/>
            <a:ext cx="9507041" cy="512445"/>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Times New Roman MT"/>
                <a:ea typeface="Times New Roman MT"/>
                <a:cs typeface="Times New Roman MT"/>
                <a:sym typeface="Times New Roman MT"/>
              </a:rPr>
              <a:t>For the Voltage gain ,</a:t>
            </a:r>
          </a:p>
        </p:txBody>
      </p:sp>
      <p:pic>
        <p:nvPicPr>
          <p:cNvPr name="Picture 16" id="16"/>
          <p:cNvPicPr>
            <a:picLocks noChangeAspect="true"/>
          </p:cNvPicPr>
          <p:nvPr/>
        </p:nvPicPr>
        <p:blipFill>
          <a:blip r:embed="rId8"/>
          <a:stretch>
            <a:fillRect/>
          </a:stretch>
        </p:blipFill>
        <p:spPr>
          <a:xfrm rot="0">
            <a:off x="5525694" y="6179273"/>
            <a:ext cx="7236612" cy="2197419"/>
          </a:xfrm>
          <a:prstGeom prst="rect">
            <a:avLst/>
          </a:prstGeom>
        </p:spPr>
      </p:pic>
      <p:pic>
        <p:nvPicPr>
          <p:cNvPr name="Picture 17" id="17"/>
          <p:cNvPicPr>
            <a:picLocks noChangeAspect="true"/>
          </p:cNvPicPr>
          <p:nvPr/>
        </p:nvPicPr>
        <p:blipFill>
          <a:blip r:embed="rId9"/>
          <a:stretch>
            <a:fillRect/>
          </a:stretch>
        </p:blipFill>
        <p:spPr>
          <a:xfrm rot="0">
            <a:off x="1180360" y="7861598"/>
            <a:ext cx="6031103" cy="1433529"/>
          </a:xfrm>
          <a:prstGeom prst="rect">
            <a:avLst/>
          </a:prstGeom>
        </p:spPr>
      </p:pic>
      <p:sp>
        <p:nvSpPr>
          <p:cNvPr name="TextBox 18" id="18"/>
          <p:cNvSpPr txBox="true"/>
          <p:nvPr/>
        </p:nvSpPr>
        <p:spPr>
          <a:xfrm rot="0">
            <a:off x="6480610" y="8292427"/>
            <a:ext cx="9507041" cy="512445"/>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Times New Roman MT"/>
                <a:ea typeface="Times New Roman MT"/>
                <a:cs typeface="Times New Roman MT"/>
                <a:sym typeface="Times New Roman MT"/>
              </a:rPr>
              <a:t>( Transconductance of input diff. pair transistor )</a:t>
            </a:r>
          </a:p>
        </p:txBody>
      </p:sp>
      <p:pic>
        <p:nvPicPr>
          <p:cNvPr name="Picture 19" id="19"/>
          <p:cNvPicPr>
            <a:picLocks noChangeAspect="true"/>
          </p:cNvPicPr>
          <p:nvPr/>
        </p:nvPicPr>
        <p:blipFill>
          <a:blip r:embed="rId10"/>
          <a:stretch>
            <a:fillRect/>
          </a:stretch>
        </p:blipFill>
        <p:spPr>
          <a:xfrm rot="0">
            <a:off x="1253788" y="8590710"/>
            <a:ext cx="5149974" cy="1335178"/>
          </a:xfrm>
          <a:prstGeom prst="rect">
            <a:avLst/>
          </a:prstGeom>
        </p:spPr>
      </p:pic>
      <p:sp>
        <p:nvSpPr>
          <p:cNvPr name="Freeform 20" id="20"/>
          <p:cNvSpPr/>
          <p:nvPr/>
        </p:nvSpPr>
        <p:spPr>
          <a:xfrm flipH="false" flipV="false" rot="0">
            <a:off x="13494184" y="496877"/>
            <a:ext cx="3765116" cy="1063645"/>
          </a:xfrm>
          <a:custGeom>
            <a:avLst/>
            <a:gdLst/>
            <a:ahLst/>
            <a:cxnLst/>
            <a:rect r="r" b="b" t="t" l="l"/>
            <a:pathLst>
              <a:path h="1063645" w="3765116">
                <a:moveTo>
                  <a:pt x="0" y="0"/>
                </a:moveTo>
                <a:lnTo>
                  <a:pt x="3765116" y="0"/>
                </a:lnTo>
                <a:lnTo>
                  <a:pt x="3765116" y="1063646"/>
                </a:lnTo>
                <a:lnTo>
                  <a:pt x="0" y="1063646"/>
                </a:lnTo>
                <a:lnTo>
                  <a:pt x="0" y="0"/>
                </a:lnTo>
                <a:close/>
              </a:path>
            </a:pathLst>
          </a:custGeom>
          <a:blipFill>
            <a:blip r:embed="rId11"/>
            <a:stretch>
              <a:fillRect l="0" t="0" r="0" b="0"/>
            </a:stretch>
          </a:blipFill>
        </p:spPr>
      </p:sp>
    </p:spTree>
  </p:cSld>
  <p:clrMapOvr>
    <a:masterClrMapping/>
  </p:clrMapOvr>
  <p:transition spd="fast">
    <p:push dir="l"/>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527418" y="579715"/>
            <a:ext cx="6513035" cy="1971633"/>
          </a:xfrm>
          <a:prstGeom prst="rect">
            <a:avLst/>
          </a:prstGeom>
        </p:spPr>
      </p:pic>
      <p:pic>
        <p:nvPicPr>
          <p:cNvPr name="Picture 3" id="3"/>
          <p:cNvPicPr>
            <a:picLocks noChangeAspect="true"/>
          </p:cNvPicPr>
          <p:nvPr/>
        </p:nvPicPr>
        <p:blipFill>
          <a:blip r:embed="rId3"/>
          <a:stretch>
            <a:fillRect/>
          </a:stretch>
        </p:blipFill>
        <p:spPr>
          <a:xfrm rot="0">
            <a:off x="6613605" y="694669"/>
            <a:ext cx="7080959" cy="1668021"/>
          </a:xfrm>
          <a:prstGeom prst="rect">
            <a:avLst/>
          </a:prstGeom>
        </p:spPr>
      </p:pic>
      <p:grpSp>
        <p:nvGrpSpPr>
          <p:cNvPr name="Group 4" id="4"/>
          <p:cNvGrpSpPr/>
          <p:nvPr/>
        </p:nvGrpSpPr>
        <p:grpSpPr>
          <a:xfrm rot="0">
            <a:off x="2841601" y="2656735"/>
            <a:ext cx="2951463" cy="858950"/>
            <a:chOff x="0" y="0"/>
            <a:chExt cx="777340" cy="226226"/>
          </a:xfrm>
        </p:grpSpPr>
        <p:sp>
          <p:nvSpPr>
            <p:cNvPr name="Freeform 5" id="5"/>
            <p:cNvSpPr/>
            <p:nvPr/>
          </p:nvSpPr>
          <p:spPr>
            <a:xfrm flipH="false" flipV="false" rot="0">
              <a:off x="0" y="0"/>
              <a:ext cx="777340" cy="226226"/>
            </a:xfrm>
            <a:custGeom>
              <a:avLst/>
              <a:gdLst/>
              <a:ahLst/>
              <a:cxnLst/>
              <a:rect r="r" b="b" t="t" l="l"/>
              <a:pathLst>
                <a:path h="226226" w="777340">
                  <a:moveTo>
                    <a:pt x="0" y="0"/>
                  </a:moveTo>
                  <a:lnTo>
                    <a:pt x="777340" y="0"/>
                  </a:lnTo>
                  <a:lnTo>
                    <a:pt x="777340" y="226226"/>
                  </a:lnTo>
                  <a:lnTo>
                    <a:pt x="0" y="226226"/>
                  </a:lnTo>
                  <a:close/>
                </a:path>
              </a:pathLst>
            </a:custGeom>
            <a:solidFill>
              <a:srgbClr val="FFFFFF"/>
            </a:solidFill>
            <a:ln w="28575" cap="sq">
              <a:solidFill>
                <a:srgbClr val="000000"/>
              </a:solidFill>
              <a:prstDash val="solid"/>
              <a:miter/>
            </a:ln>
          </p:spPr>
        </p:sp>
        <p:sp>
          <p:nvSpPr>
            <p:cNvPr name="TextBox 6" id="6"/>
            <p:cNvSpPr txBox="true"/>
            <p:nvPr/>
          </p:nvSpPr>
          <p:spPr>
            <a:xfrm>
              <a:off x="0" y="-19050"/>
              <a:ext cx="777340" cy="245276"/>
            </a:xfrm>
            <a:prstGeom prst="rect">
              <a:avLst/>
            </a:prstGeom>
          </p:spPr>
          <p:txBody>
            <a:bodyPr anchor="ctr" rtlCol="false" tIns="50800" lIns="50800" bIns="50800" rIns="50800"/>
            <a:lstStyle/>
            <a:p>
              <a:pPr algn="ctr">
                <a:lnSpc>
                  <a:spcPts val="2063"/>
                </a:lnSpc>
              </a:pPr>
            </a:p>
          </p:txBody>
        </p:sp>
      </p:grpSp>
      <p:pic>
        <p:nvPicPr>
          <p:cNvPr name="Picture 7" id="7"/>
          <p:cNvPicPr>
            <a:picLocks noChangeAspect="true"/>
          </p:cNvPicPr>
          <p:nvPr/>
        </p:nvPicPr>
        <p:blipFill>
          <a:blip r:embed="rId4"/>
          <a:stretch>
            <a:fillRect/>
          </a:stretch>
        </p:blipFill>
        <p:spPr>
          <a:xfrm rot="0">
            <a:off x="574468" y="2379956"/>
            <a:ext cx="5450780" cy="1442853"/>
          </a:xfrm>
          <a:prstGeom prst="rect">
            <a:avLst/>
          </a:prstGeom>
        </p:spPr>
      </p:pic>
      <p:pic>
        <p:nvPicPr>
          <p:cNvPr name="Picture 8" id="8"/>
          <p:cNvPicPr>
            <a:picLocks noChangeAspect="true"/>
          </p:cNvPicPr>
          <p:nvPr/>
        </p:nvPicPr>
        <p:blipFill>
          <a:blip r:embed="rId5"/>
          <a:stretch>
            <a:fillRect/>
          </a:stretch>
        </p:blipFill>
        <p:spPr>
          <a:xfrm rot="0">
            <a:off x="574468" y="3890129"/>
            <a:ext cx="5450780" cy="1321401"/>
          </a:xfrm>
          <a:prstGeom prst="rect">
            <a:avLst/>
          </a:prstGeom>
        </p:spPr>
      </p:pic>
      <p:sp>
        <p:nvSpPr>
          <p:cNvPr name="TextBox 9" id="9"/>
          <p:cNvSpPr txBox="true"/>
          <p:nvPr/>
        </p:nvSpPr>
        <p:spPr>
          <a:xfrm rot="0">
            <a:off x="6003557" y="4239586"/>
            <a:ext cx="9507041" cy="512445"/>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Times New Roman MT"/>
                <a:ea typeface="Times New Roman MT"/>
                <a:cs typeface="Times New Roman MT"/>
                <a:sym typeface="Times New Roman MT"/>
              </a:rPr>
              <a:t>( Assumed channel length modulation is equal to 0.01 )</a:t>
            </a:r>
          </a:p>
        </p:txBody>
      </p:sp>
      <p:pic>
        <p:nvPicPr>
          <p:cNvPr name="Picture 10" id="10"/>
          <p:cNvPicPr>
            <a:picLocks noChangeAspect="true"/>
          </p:cNvPicPr>
          <p:nvPr/>
        </p:nvPicPr>
        <p:blipFill>
          <a:blip r:embed="rId6"/>
          <a:stretch>
            <a:fillRect/>
          </a:stretch>
        </p:blipFill>
        <p:spPr>
          <a:xfrm rot="0">
            <a:off x="289541" y="4776171"/>
            <a:ext cx="8522054" cy="2382327"/>
          </a:xfrm>
          <a:prstGeom prst="rect">
            <a:avLst/>
          </a:prstGeom>
        </p:spPr>
      </p:pic>
      <p:grpSp>
        <p:nvGrpSpPr>
          <p:cNvPr name="Group 11" id="11"/>
          <p:cNvGrpSpPr/>
          <p:nvPr/>
        </p:nvGrpSpPr>
        <p:grpSpPr>
          <a:xfrm rot="0">
            <a:off x="8947357" y="5537860"/>
            <a:ext cx="1809721" cy="694545"/>
            <a:chOff x="0" y="0"/>
            <a:chExt cx="476634" cy="182926"/>
          </a:xfrm>
        </p:grpSpPr>
        <p:sp>
          <p:nvSpPr>
            <p:cNvPr name="Freeform 12" id="12"/>
            <p:cNvSpPr/>
            <p:nvPr/>
          </p:nvSpPr>
          <p:spPr>
            <a:xfrm flipH="false" flipV="false" rot="0">
              <a:off x="0" y="0"/>
              <a:ext cx="476634" cy="182926"/>
            </a:xfrm>
            <a:custGeom>
              <a:avLst/>
              <a:gdLst/>
              <a:ahLst/>
              <a:cxnLst/>
              <a:rect r="r" b="b" t="t" l="l"/>
              <a:pathLst>
                <a:path h="182926" w="476634">
                  <a:moveTo>
                    <a:pt x="0" y="0"/>
                  </a:moveTo>
                  <a:lnTo>
                    <a:pt x="476634" y="0"/>
                  </a:lnTo>
                  <a:lnTo>
                    <a:pt x="476634" y="182926"/>
                  </a:lnTo>
                  <a:lnTo>
                    <a:pt x="0" y="182926"/>
                  </a:lnTo>
                  <a:close/>
                </a:path>
              </a:pathLst>
            </a:custGeom>
            <a:solidFill>
              <a:srgbClr val="FFFFFF"/>
            </a:solidFill>
            <a:ln w="28575" cap="sq">
              <a:solidFill>
                <a:srgbClr val="000000"/>
              </a:solidFill>
              <a:prstDash val="solid"/>
              <a:miter/>
            </a:ln>
          </p:spPr>
        </p:sp>
        <p:sp>
          <p:nvSpPr>
            <p:cNvPr name="TextBox 13" id="13"/>
            <p:cNvSpPr txBox="true"/>
            <p:nvPr/>
          </p:nvSpPr>
          <p:spPr>
            <a:xfrm>
              <a:off x="0" y="-19050"/>
              <a:ext cx="476634" cy="201976"/>
            </a:xfrm>
            <a:prstGeom prst="rect">
              <a:avLst/>
            </a:prstGeom>
          </p:spPr>
          <p:txBody>
            <a:bodyPr anchor="ctr" rtlCol="false" tIns="50800" lIns="50800" bIns="50800" rIns="50800"/>
            <a:lstStyle/>
            <a:p>
              <a:pPr algn="ctr">
                <a:lnSpc>
                  <a:spcPts val="2063"/>
                </a:lnSpc>
              </a:pPr>
            </a:p>
          </p:txBody>
        </p:sp>
      </p:grpSp>
      <p:pic>
        <p:nvPicPr>
          <p:cNvPr name="Picture 14" id="14"/>
          <p:cNvPicPr>
            <a:picLocks noChangeAspect="true"/>
          </p:cNvPicPr>
          <p:nvPr/>
        </p:nvPicPr>
        <p:blipFill>
          <a:blip r:embed="rId7"/>
          <a:stretch>
            <a:fillRect/>
          </a:stretch>
        </p:blipFill>
        <p:spPr>
          <a:xfrm rot="0">
            <a:off x="8310504" y="5450051"/>
            <a:ext cx="2458367" cy="839281"/>
          </a:xfrm>
          <a:prstGeom prst="rect">
            <a:avLst/>
          </a:prstGeom>
        </p:spPr>
      </p:pic>
      <p:pic>
        <p:nvPicPr>
          <p:cNvPr name="Picture 15" id="15"/>
          <p:cNvPicPr>
            <a:picLocks noChangeAspect="true"/>
          </p:cNvPicPr>
          <p:nvPr/>
        </p:nvPicPr>
        <p:blipFill>
          <a:blip r:embed="rId8"/>
          <a:stretch>
            <a:fillRect/>
          </a:stretch>
        </p:blipFill>
        <p:spPr>
          <a:xfrm rot="0">
            <a:off x="589025" y="7009190"/>
            <a:ext cx="4928248" cy="1226659"/>
          </a:xfrm>
          <a:prstGeom prst="rect">
            <a:avLst/>
          </a:prstGeom>
        </p:spPr>
      </p:pic>
      <p:grpSp>
        <p:nvGrpSpPr>
          <p:cNvPr name="Group 16" id="16"/>
          <p:cNvGrpSpPr/>
          <p:nvPr/>
        </p:nvGrpSpPr>
        <p:grpSpPr>
          <a:xfrm rot="0">
            <a:off x="6210926" y="7310823"/>
            <a:ext cx="3477257" cy="741518"/>
            <a:chOff x="0" y="0"/>
            <a:chExt cx="915821" cy="195297"/>
          </a:xfrm>
        </p:grpSpPr>
        <p:sp>
          <p:nvSpPr>
            <p:cNvPr name="Freeform 17" id="17"/>
            <p:cNvSpPr/>
            <p:nvPr/>
          </p:nvSpPr>
          <p:spPr>
            <a:xfrm flipH="false" flipV="false" rot="0">
              <a:off x="0" y="0"/>
              <a:ext cx="915821" cy="195297"/>
            </a:xfrm>
            <a:custGeom>
              <a:avLst/>
              <a:gdLst/>
              <a:ahLst/>
              <a:cxnLst/>
              <a:rect r="r" b="b" t="t" l="l"/>
              <a:pathLst>
                <a:path h="195297" w="915821">
                  <a:moveTo>
                    <a:pt x="0" y="0"/>
                  </a:moveTo>
                  <a:lnTo>
                    <a:pt x="915821" y="0"/>
                  </a:lnTo>
                  <a:lnTo>
                    <a:pt x="915821" y="195297"/>
                  </a:lnTo>
                  <a:lnTo>
                    <a:pt x="0" y="195297"/>
                  </a:lnTo>
                  <a:close/>
                </a:path>
              </a:pathLst>
            </a:custGeom>
            <a:solidFill>
              <a:srgbClr val="FFFFFF"/>
            </a:solidFill>
            <a:ln w="28575" cap="sq">
              <a:solidFill>
                <a:srgbClr val="000000"/>
              </a:solidFill>
              <a:prstDash val="solid"/>
              <a:miter/>
            </a:ln>
          </p:spPr>
        </p:sp>
        <p:sp>
          <p:nvSpPr>
            <p:cNvPr name="TextBox 18" id="18"/>
            <p:cNvSpPr txBox="true"/>
            <p:nvPr/>
          </p:nvSpPr>
          <p:spPr>
            <a:xfrm>
              <a:off x="0" y="-19050"/>
              <a:ext cx="915821" cy="214347"/>
            </a:xfrm>
            <a:prstGeom prst="rect">
              <a:avLst/>
            </a:prstGeom>
          </p:spPr>
          <p:txBody>
            <a:bodyPr anchor="ctr" rtlCol="false" tIns="50800" lIns="50800" bIns="50800" rIns="50800"/>
            <a:lstStyle/>
            <a:p>
              <a:pPr algn="ctr">
                <a:lnSpc>
                  <a:spcPts val="2063"/>
                </a:lnSpc>
              </a:pPr>
            </a:p>
          </p:txBody>
        </p:sp>
      </p:grpSp>
      <p:pic>
        <p:nvPicPr>
          <p:cNvPr name="Picture 19" id="19"/>
          <p:cNvPicPr>
            <a:picLocks noChangeAspect="true"/>
          </p:cNvPicPr>
          <p:nvPr/>
        </p:nvPicPr>
        <p:blipFill>
          <a:blip r:embed="rId9"/>
          <a:stretch>
            <a:fillRect/>
          </a:stretch>
        </p:blipFill>
        <p:spPr>
          <a:xfrm rot="0">
            <a:off x="5971641" y="7095509"/>
            <a:ext cx="3892414" cy="1081226"/>
          </a:xfrm>
          <a:prstGeom prst="rect">
            <a:avLst/>
          </a:prstGeom>
        </p:spPr>
      </p:pic>
      <p:pic>
        <p:nvPicPr>
          <p:cNvPr name="Picture 20" id="20"/>
          <p:cNvPicPr>
            <a:picLocks noChangeAspect="true"/>
          </p:cNvPicPr>
          <p:nvPr/>
        </p:nvPicPr>
        <p:blipFill>
          <a:blip r:embed="rId10"/>
          <a:stretch>
            <a:fillRect/>
          </a:stretch>
        </p:blipFill>
        <p:spPr>
          <a:xfrm rot="0">
            <a:off x="6125352" y="8385115"/>
            <a:ext cx="3724729" cy="1120273"/>
          </a:xfrm>
          <a:prstGeom prst="rect">
            <a:avLst/>
          </a:prstGeom>
        </p:spPr>
      </p:pic>
      <p:pic>
        <p:nvPicPr>
          <p:cNvPr name="Picture 21" id="21"/>
          <p:cNvPicPr>
            <a:picLocks noChangeAspect="true"/>
          </p:cNvPicPr>
          <p:nvPr/>
        </p:nvPicPr>
        <p:blipFill>
          <a:blip r:embed="rId11"/>
          <a:stretch>
            <a:fillRect/>
          </a:stretch>
        </p:blipFill>
        <p:spPr>
          <a:xfrm rot="0">
            <a:off x="617640" y="7494829"/>
            <a:ext cx="4290467" cy="1238306"/>
          </a:xfrm>
          <a:prstGeom prst="rect">
            <a:avLst/>
          </a:prstGeom>
        </p:spPr>
      </p:pic>
      <p:sp>
        <p:nvSpPr>
          <p:cNvPr name="TextBox 22" id="22"/>
          <p:cNvSpPr txBox="true"/>
          <p:nvPr/>
        </p:nvSpPr>
        <p:spPr>
          <a:xfrm rot="0">
            <a:off x="8350963" y="8682548"/>
            <a:ext cx="9507041" cy="512445"/>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Times New Roman MT"/>
                <a:ea typeface="Times New Roman MT"/>
                <a:cs typeface="Times New Roman MT"/>
                <a:sym typeface="Times New Roman MT"/>
              </a:rPr>
              <a:t>( Because </a:t>
            </a:r>
            <a:r>
              <a:rPr lang="en-US" sz="2699" i="true">
                <a:solidFill>
                  <a:srgbClr val="000000"/>
                </a:solidFill>
                <a:latin typeface="Times New Roman MT Italics"/>
                <a:ea typeface="Times New Roman MT Italics"/>
                <a:cs typeface="Times New Roman MT Italics"/>
                <a:sym typeface="Times New Roman MT Italics"/>
              </a:rPr>
              <a:t>Rup</a:t>
            </a:r>
            <a:r>
              <a:rPr lang="en-US" sz="2699">
                <a:solidFill>
                  <a:srgbClr val="000000"/>
                </a:solidFill>
                <a:latin typeface="Times New Roman MT"/>
                <a:ea typeface="Times New Roman MT"/>
                <a:cs typeface="Times New Roman MT"/>
                <a:sym typeface="Times New Roman MT"/>
              </a:rPr>
              <a:t> dominates </a:t>
            </a:r>
            <a:r>
              <a:rPr lang="en-US" sz="2699" i="true">
                <a:solidFill>
                  <a:srgbClr val="000000"/>
                </a:solidFill>
                <a:latin typeface="Times New Roman MT Italics"/>
                <a:ea typeface="Times New Roman MT Italics"/>
                <a:cs typeface="Times New Roman MT Italics"/>
                <a:sym typeface="Times New Roman MT Italics"/>
              </a:rPr>
              <a:t>Rout </a:t>
            </a:r>
            <a:r>
              <a:rPr lang="en-US" sz="2699">
                <a:solidFill>
                  <a:srgbClr val="000000"/>
                </a:solidFill>
                <a:latin typeface="Times New Roman MT"/>
                <a:ea typeface="Times New Roman MT"/>
                <a:cs typeface="Times New Roman MT"/>
                <a:sym typeface="Times New Roman MT"/>
              </a:rPr>
              <a:t>)</a:t>
            </a:r>
          </a:p>
        </p:txBody>
      </p:sp>
      <p:sp>
        <p:nvSpPr>
          <p:cNvPr name="Freeform 23" id="23"/>
          <p:cNvSpPr/>
          <p:nvPr/>
        </p:nvSpPr>
        <p:spPr>
          <a:xfrm flipH="false" flipV="false" rot="0">
            <a:off x="13494184" y="496877"/>
            <a:ext cx="3765116" cy="1063645"/>
          </a:xfrm>
          <a:custGeom>
            <a:avLst/>
            <a:gdLst/>
            <a:ahLst/>
            <a:cxnLst/>
            <a:rect r="r" b="b" t="t" l="l"/>
            <a:pathLst>
              <a:path h="1063645" w="3765116">
                <a:moveTo>
                  <a:pt x="0" y="0"/>
                </a:moveTo>
                <a:lnTo>
                  <a:pt x="3765116" y="0"/>
                </a:lnTo>
                <a:lnTo>
                  <a:pt x="3765116" y="1063646"/>
                </a:lnTo>
                <a:lnTo>
                  <a:pt x="0" y="1063646"/>
                </a:lnTo>
                <a:lnTo>
                  <a:pt x="0" y="0"/>
                </a:lnTo>
                <a:close/>
              </a:path>
            </a:pathLst>
          </a:custGeom>
          <a:blipFill>
            <a:blip r:embed="rId12"/>
            <a:stretch>
              <a:fillRect l="0" t="0" r="0" b="0"/>
            </a:stretch>
          </a:blipFill>
        </p:spPr>
      </p:sp>
    </p:spTree>
  </p:cSld>
  <p:clrMapOvr>
    <a:masterClrMapping/>
  </p:clrMapOvr>
  <p:transition spd="fast">
    <p:push dir="l"/>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877451" y="897755"/>
            <a:ext cx="4695940" cy="1192921"/>
          </a:xfrm>
          <a:prstGeom prst="rect">
            <a:avLst/>
          </a:prstGeom>
        </p:spPr>
      </p:pic>
      <p:pic>
        <p:nvPicPr>
          <p:cNvPr name="Picture 3" id="3"/>
          <p:cNvPicPr>
            <a:picLocks noChangeAspect="true"/>
          </p:cNvPicPr>
          <p:nvPr/>
        </p:nvPicPr>
        <p:blipFill>
          <a:blip r:embed="rId3"/>
          <a:stretch>
            <a:fillRect/>
          </a:stretch>
        </p:blipFill>
        <p:spPr>
          <a:xfrm rot="0">
            <a:off x="5569530" y="746575"/>
            <a:ext cx="6759934" cy="1613858"/>
          </a:xfrm>
          <a:prstGeom prst="rect">
            <a:avLst/>
          </a:prstGeom>
        </p:spPr>
      </p:pic>
      <p:grpSp>
        <p:nvGrpSpPr>
          <p:cNvPr name="Group 4" id="4"/>
          <p:cNvGrpSpPr/>
          <p:nvPr/>
        </p:nvGrpSpPr>
        <p:grpSpPr>
          <a:xfrm rot="0">
            <a:off x="13642406" y="2065301"/>
            <a:ext cx="2279449" cy="741518"/>
            <a:chOff x="0" y="0"/>
            <a:chExt cx="600349" cy="195297"/>
          </a:xfrm>
        </p:grpSpPr>
        <p:sp>
          <p:nvSpPr>
            <p:cNvPr name="Freeform 5" id="5"/>
            <p:cNvSpPr/>
            <p:nvPr/>
          </p:nvSpPr>
          <p:spPr>
            <a:xfrm flipH="false" flipV="false" rot="0">
              <a:off x="0" y="0"/>
              <a:ext cx="600349" cy="195297"/>
            </a:xfrm>
            <a:custGeom>
              <a:avLst/>
              <a:gdLst/>
              <a:ahLst/>
              <a:cxnLst/>
              <a:rect r="r" b="b" t="t" l="l"/>
              <a:pathLst>
                <a:path h="195297" w="600349">
                  <a:moveTo>
                    <a:pt x="0" y="0"/>
                  </a:moveTo>
                  <a:lnTo>
                    <a:pt x="600349" y="0"/>
                  </a:lnTo>
                  <a:lnTo>
                    <a:pt x="600349" y="195297"/>
                  </a:lnTo>
                  <a:lnTo>
                    <a:pt x="0" y="195297"/>
                  </a:lnTo>
                  <a:close/>
                </a:path>
              </a:pathLst>
            </a:custGeom>
            <a:solidFill>
              <a:srgbClr val="FFFFFF"/>
            </a:solidFill>
            <a:ln w="28575" cap="sq">
              <a:solidFill>
                <a:srgbClr val="000000"/>
              </a:solidFill>
              <a:prstDash val="solid"/>
              <a:miter/>
            </a:ln>
          </p:spPr>
        </p:sp>
        <p:sp>
          <p:nvSpPr>
            <p:cNvPr name="TextBox 6" id="6"/>
            <p:cNvSpPr txBox="true"/>
            <p:nvPr/>
          </p:nvSpPr>
          <p:spPr>
            <a:xfrm>
              <a:off x="0" y="-19050"/>
              <a:ext cx="600349" cy="214347"/>
            </a:xfrm>
            <a:prstGeom prst="rect">
              <a:avLst/>
            </a:prstGeom>
          </p:spPr>
          <p:txBody>
            <a:bodyPr anchor="ctr" rtlCol="false" tIns="50800" lIns="50800" bIns="50800" rIns="50800"/>
            <a:lstStyle/>
            <a:p>
              <a:pPr algn="ctr">
                <a:lnSpc>
                  <a:spcPts val="2063"/>
                </a:lnSpc>
              </a:pPr>
            </a:p>
          </p:txBody>
        </p:sp>
      </p:grpSp>
      <p:pic>
        <p:nvPicPr>
          <p:cNvPr name="Picture 7" id="7"/>
          <p:cNvPicPr>
            <a:picLocks noChangeAspect="true"/>
          </p:cNvPicPr>
          <p:nvPr/>
        </p:nvPicPr>
        <p:blipFill>
          <a:blip r:embed="rId4"/>
          <a:stretch>
            <a:fillRect/>
          </a:stretch>
        </p:blipFill>
        <p:spPr>
          <a:xfrm rot="0">
            <a:off x="11939207" y="1865886"/>
            <a:ext cx="4045007" cy="1140348"/>
          </a:xfrm>
          <a:prstGeom prst="rect">
            <a:avLst/>
          </a:prstGeom>
        </p:spPr>
      </p:pic>
      <p:pic>
        <p:nvPicPr>
          <p:cNvPr name="Picture 8" id="8"/>
          <p:cNvPicPr>
            <a:picLocks noChangeAspect="true"/>
          </p:cNvPicPr>
          <p:nvPr/>
        </p:nvPicPr>
        <p:blipFill>
          <a:blip r:embed="rId5"/>
          <a:stretch>
            <a:fillRect/>
          </a:stretch>
        </p:blipFill>
        <p:spPr>
          <a:xfrm rot="0">
            <a:off x="115329" y="2094481"/>
            <a:ext cx="10678615" cy="2787186"/>
          </a:xfrm>
          <a:prstGeom prst="rect">
            <a:avLst/>
          </a:prstGeom>
        </p:spPr>
      </p:pic>
      <p:pic>
        <p:nvPicPr>
          <p:cNvPr name="Picture 9" id="9"/>
          <p:cNvPicPr>
            <a:picLocks noChangeAspect="true"/>
          </p:cNvPicPr>
          <p:nvPr/>
        </p:nvPicPr>
        <p:blipFill>
          <a:blip r:embed="rId6"/>
          <a:stretch>
            <a:fillRect/>
          </a:stretch>
        </p:blipFill>
        <p:spPr>
          <a:xfrm rot="0">
            <a:off x="312882" y="3948570"/>
            <a:ext cx="9738360" cy="2389860"/>
          </a:xfrm>
          <a:prstGeom prst="rect">
            <a:avLst/>
          </a:prstGeom>
        </p:spPr>
      </p:pic>
      <p:pic>
        <p:nvPicPr>
          <p:cNvPr name="Picture 10" id="10"/>
          <p:cNvPicPr>
            <a:picLocks noChangeAspect="true"/>
          </p:cNvPicPr>
          <p:nvPr/>
        </p:nvPicPr>
        <p:blipFill>
          <a:blip r:embed="rId7"/>
          <a:stretch>
            <a:fillRect/>
          </a:stretch>
        </p:blipFill>
        <p:spPr>
          <a:xfrm rot="0">
            <a:off x="9092530" y="3948570"/>
            <a:ext cx="9738360" cy="2436789"/>
          </a:xfrm>
          <a:prstGeom prst="rect">
            <a:avLst/>
          </a:prstGeom>
        </p:spPr>
      </p:pic>
      <p:grpSp>
        <p:nvGrpSpPr>
          <p:cNvPr name="Group 11" id="11"/>
          <p:cNvGrpSpPr/>
          <p:nvPr/>
        </p:nvGrpSpPr>
        <p:grpSpPr>
          <a:xfrm rot="0">
            <a:off x="8720456" y="6431699"/>
            <a:ext cx="1809721" cy="741518"/>
            <a:chOff x="0" y="0"/>
            <a:chExt cx="476634" cy="195297"/>
          </a:xfrm>
        </p:grpSpPr>
        <p:sp>
          <p:nvSpPr>
            <p:cNvPr name="Freeform 12" id="12"/>
            <p:cNvSpPr/>
            <p:nvPr/>
          </p:nvSpPr>
          <p:spPr>
            <a:xfrm flipH="false" flipV="false" rot="0">
              <a:off x="0" y="0"/>
              <a:ext cx="476634" cy="195297"/>
            </a:xfrm>
            <a:custGeom>
              <a:avLst/>
              <a:gdLst/>
              <a:ahLst/>
              <a:cxnLst/>
              <a:rect r="r" b="b" t="t" l="l"/>
              <a:pathLst>
                <a:path h="195297" w="476634">
                  <a:moveTo>
                    <a:pt x="0" y="0"/>
                  </a:moveTo>
                  <a:lnTo>
                    <a:pt x="476634" y="0"/>
                  </a:lnTo>
                  <a:lnTo>
                    <a:pt x="476634" y="195297"/>
                  </a:lnTo>
                  <a:lnTo>
                    <a:pt x="0" y="195297"/>
                  </a:lnTo>
                  <a:close/>
                </a:path>
              </a:pathLst>
            </a:custGeom>
            <a:solidFill>
              <a:srgbClr val="FFFFFF"/>
            </a:solidFill>
            <a:ln w="28575" cap="sq">
              <a:solidFill>
                <a:srgbClr val="000000"/>
              </a:solidFill>
              <a:prstDash val="solid"/>
              <a:miter/>
            </a:ln>
          </p:spPr>
        </p:sp>
        <p:sp>
          <p:nvSpPr>
            <p:cNvPr name="TextBox 13" id="13"/>
            <p:cNvSpPr txBox="true"/>
            <p:nvPr/>
          </p:nvSpPr>
          <p:spPr>
            <a:xfrm>
              <a:off x="0" y="-19050"/>
              <a:ext cx="476634" cy="214347"/>
            </a:xfrm>
            <a:prstGeom prst="rect">
              <a:avLst/>
            </a:prstGeom>
          </p:spPr>
          <p:txBody>
            <a:bodyPr anchor="ctr" rtlCol="false" tIns="50800" lIns="50800" bIns="50800" rIns="50800"/>
            <a:lstStyle/>
            <a:p>
              <a:pPr algn="ctr">
                <a:lnSpc>
                  <a:spcPts val="2063"/>
                </a:lnSpc>
              </a:pPr>
            </a:p>
          </p:txBody>
        </p:sp>
      </p:grpSp>
      <p:pic>
        <p:nvPicPr>
          <p:cNvPr name="Picture 14" id="14"/>
          <p:cNvPicPr>
            <a:picLocks noChangeAspect="true"/>
          </p:cNvPicPr>
          <p:nvPr/>
        </p:nvPicPr>
        <p:blipFill>
          <a:blip r:embed="rId8"/>
          <a:stretch>
            <a:fillRect/>
          </a:stretch>
        </p:blipFill>
        <p:spPr>
          <a:xfrm rot="0">
            <a:off x="98824" y="5415478"/>
            <a:ext cx="11158513" cy="2822641"/>
          </a:xfrm>
          <a:prstGeom prst="rect">
            <a:avLst/>
          </a:prstGeom>
        </p:spPr>
      </p:pic>
      <p:grpSp>
        <p:nvGrpSpPr>
          <p:cNvPr name="Group 15" id="15"/>
          <p:cNvGrpSpPr/>
          <p:nvPr/>
        </p:nvGrpSpPr>
        <p:grpSpPr>
          <a:xfrm rot="0">
            <a:off x="11492749" y="8289021"/>
            <a:ext cx="1974126" cy="741518"/>
            <a:chOff x="0" y="0"/>
            <a:chExt cx="519934" cy="195297"/>
          </a:xfrm>
        </p:grpSpPr>
        <p:sp>
          <p:nvSpPr>
            <p:cNvPr name="Freeform 16" id="16"/>
            <p:cNvSpPr/>
            <p:nvPr/>
          </p:nvSpPr>
          <p:spPr>
            <a:xfrm flipH="false" flipV="false" rot="0">
              <a:off x="0" y="0"/>
              <a:ext cx="519934" cy="195297"/>
            </a:xfrm>
            <a:custGeom>
              <a:avLst/>
              <a:gdLst/>
              <a:ahLst/>
              <a:cxnLst/>
              <a:rect r="r" b="b" t="t" l="l"/>
              <a:pathLst>
                <a:path h="195297" w="519934">
                  <a:moveTo>
                    <a:pt x="0" y="0"/>
                  </a:moveTo>
                  <a:lnTo>
                    <a:pt x="519934" y="0"/>
                  </a:lnTo>
                  <a:lnTo>
                    <a:pt x="519934" y="195297"/>
                  </a:lnTo>
                  <a:lnTo>
                    <a:pt x="0" y="195297"/>
                  </a:lnTo>
                  <a:close/>
                </a:path>
              </a:pathLst>
            </a:custGeom>
            <a:solidFill>
              <a:srgbClr val="FFFFFF"/>
            </a:solidFill>
            <a:ln w="28575" cap="sq">
              <a:solidFill>
                <a:srgbClr val="000000"/>
              </a:solidFill>
              <a:prstDash val="solid"/>
              <a:miter/>
            </a:ln>
          </p:spPr>
        </p:sp>
        <p:sp>
          <p:nvSpPr>
            <p:cNvPr name="TextBox 17" id="17"/>
            <p:cNvSpPr txBox="true"/>
            <p:nvPr/>
          </p:nvSpPr>
          <p:spPr>
            <a:xfrm>
              <a:off x="0" y="-19050"/>
              <a:ext cx="519934" cy="214347"/>
            </a:xfrm>
            <a:prstGeom prst="rect">
              <a:avLst/>
            </a:prstGeom>
          </p:spPr>
          <p:txBody>
            <a:bodyPr anchor="ctr" rtlCol="false" tIns="50800" lIns="50800" bIns="50800" rIns="50800"/>
            <a:lstStyle/>
            <a:p>
              <a:pPr algn="ctr">
                <a:lnSpc>
                  <a:spcPts val="2063"/>
                </a:lnSpc>
              </a:pPr>
            </a:p>
          </p:txBody>
        </p:sp>
      </p:grpSp>
      <p:pic>
        <p:nvPicPr>
          <p:cNvPr name="Picture 18" id="18"/>
          <p:cNvPicPr>
            <a:picLocks noChangeAspect="true"/>
          </p:cNvPicPr>
          <p:nvPr/>
        </p:nvPicPr>
        <p:blipFill>
          <a:blip r:embed="rId9"/>
          <a:stretch>
            <a:fillRect/>
          </a:stretch>
        </p:blipFill>
        <p:spPr>
          <a:xfrm rot="0">
            <a:off x="1581039" y="7062621"/>
            <a:ext cx="12777281" cy="3194320"/>
          </a:xfrm>
          <a:prstGeom prst="rect">
            <a:avLst/>
          </a:prstGeom>
        </p:spPr>
      </p:pic>
      <p:sp>
        <p:nvSpPr>
          <p:cNvPr name="Freeform 19" id="19"/>
          <p:cNvSpPr/>
          <p:nvPr/>
        </p:nvSpPr>
        <p:spPr>
          <a:xfrm flipH="false" flipV="false" rot="0">
            <a:off x="13494184" y="496877"/>
            <a:ext cx="3765116" cy="1063645"/>
          </a:xfrm>
          <a:custGeom>
            <a:avLst/>
            <a:gdLst/>
            <a:ahLst/>
            <a:cxnLst/>
            <a:rect r="r" b="b" t="t" l="l"/>
            <a:pathLst>
              <a:path h="1063645" w="3765116">
                <a:moveTo>
                  <a:pt x="0" y="0"/>
                </a:moveTo>
                <a:lnTo>
                  <a:pt x="3765116" y="0"/>
                </a:lnTo>
                <a:lnTo>
                  <a:pt x="3765116" y="1063646"/>
                </a:lnTo>
                <a:lnTo>
                  <a:pt x="0" y="1063646"/>
                </a:lnTo>
                <a:lnTo>
                  <a:pt x="0" y="0"/>
                </a:lnTo>
                <a:close/>
              </a:path>
            </a:pathLst>
          </a:custGeom>
          <a:blipFill>
            <a:blip r:embed="rId10"/>
            <a:stretch>
              <a:fillRect l="0" t="0" r="0" b="0"/>
            </a:stretch>
          </a:blipFill>
        </p:spPr>
      </p:sp>
    </p:spTree>
  </p:cSld>
  <p:clrMapOvr>
    <a:masterClrMapping/>
  </p:clrMapOvr>
  <p:transition spd="fast">
    <p:push dir="l"/>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83699" y="2271651"/>
            <a:ext cx="7407868" cy="5743698"/>
          </a:xfrm>
          <a:custGeom>
            <a:avLst/>
            <a:gdLst/>
            <a:ahLst/>
            <a:cxnLst/>
            <a:rect r="r" b="b" t="t" l="l"/>
            <a:pathLst>
              <a:path h="5743698" w="7407868">
                <a:moveTo>
                  <a:pt x="0" y="0"/>
                </a:moveTo>
                <a:lnTo>
                  <a:pt x="7407868" y="0"/>
                </a:lnTo>
                <a:lnTo>
                  <a:pt x="7407868" y="5743698"/>
                </a:lnTo>
                <a:lnTo>
                  <a:pt x="0" y="5743698"/>
                </a:lnTo>
                <a:lnTo>
                  <a:pt x="0" y="0"/>
                </a:lnTo>
                <a:close/>
              </a:path>
            </a:pathLst>
          </a:custGeom>
          <a:blipFill>
            <a:blip r:embed="rId2"/>
            <a:stretch>
              <a:fillRect l="0" t="0" r="0" b="0"/>
            </a:stretch>
          </a:blipFill>
        </p:spPr>
      </p:sp>
      <p:sp>
        <p:nvSpPr>
          <p:cNvPr name="TextBox 3" id="3"/>
          <p:cNvSpPr txBox="true"/>
          <p:nvPr/>
        </p:nvSpPr>
        <p:spPr>
          <a:xfrm rot="0">
            <a:off x="1028700" y="1205308"/>
            <a:ext cx="5096470" cy="647066"/>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MT Bold"/>
                <a:ea typeface="Times New Roman MT Bold"/>
                <a:cs typeface="Times New Roman MT Bold"/>
                <a:sym typeface="Times New Roman MT Bold"/>
              </a:rPr>
              <a:t>EXPECTED WAVEFORM</a:t>
            </a:r>
          </a:p>
        </p:txBody>
      </p:sp>
      <p:sp>
        <p:nvSpPr>
          <p:cNvPr name="TextBox 4" id="4"/>
          <p:cNvSpPr txBox="true"/>
          <p:nvPr/>
        </p:nvSpPr>
        <p:spPr>
          <a:xfrm rot="0">
            <a:off x="390301" y="3699398"/>
            <a:ext cx="2038358" cy="512445"/>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Times New Roman MT"/>
                <a:ea typeface="Times New Roman MT"/>
                <a:cs typeface="Times New Roman MT"/>
                <a:sym typeface="Times New Roman MT"/>
              </a:rPr>
              <a:t>Vdd - 2Vov</a:t>
            </a:r>
          </a:p>
        </p:txBody>
      </p:sp>
      <p:sp>
        <p:nvSpPr>
          <p:cNvPr name="TextBox 5" id="5"/>
          <p:cNvSpPr txBox="true"/>
          <p:nvPr/>
        </p:nvSpPr>
        <p:spPr>
          <a:xfrm rot="0">
            <a:off x="883699" y="6059693"/>
            <a:ext cx="2038358" cy="512445"/>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Times New Roman MT"/>
                <a:ea typeface="Times New Roman MT"/>
                <a:cs typeface="Times New Roman MT"/>
                <a:sym typeface="Times New Roman MT"/>
              </a:rPr>
              <a:t>2Vov</a:t>
            </a:r>
          </a:p>
        </p:txBody>
      </p:sp>
      <p:sp>
        <p:nvSpPr>
          <p:cNvPr name="TextBox 6" id="6"/>
          <p:cNvSpPr txBox="true"/>
          <p:nvPr/>
        </p:nvSpPr>
        <p:spPr>
          <a:xfrm rot="0">
            <a:off x="3576935" y="6787601"/>
            <a:ext cx="2038358" cy="512445"/>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Times New Roman MT"/>
                <a:ea typeface="Times New Roman MT"/>
                <a:cs typeface="Times New Roman MT"/>
                <a:sym typeface="Times New Roman MT"/>
              </a:rPr>
              <a:t>Vin</a:t>
            </a:r>
          </a:p>
        </p:txBody>
      </p:sp>
      <p:sp>
        <p:nvSpPr>
          <p:cNvPr name="TextBox 7" id="7"/>
          <p:cNvSpPr txBox="true"/>
          <p:nvPr/>
        </p:nvSpPr>
        <p:spPr>
          <a:xfrm rot="0">
            <a:off x="1538577" y="1963041"/>
            <a:ext cx="2038358" cy="512445"/>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Times New Roman MT"/>
                <a:ea typeface="Times New Roman MT"/>
                <a:cs typeface="Times New Roman MT"/>
                <a:sym typeface="Times New Roman MT"/>
              </a:rPr>
              <a:t>Vout</a:t>
            </a:r>
          </a:p>
        </p:txBody>
      </p:sp>
      <p:sp>
        <p:nvSpPr>
          <p:cNvPr name="TextBox 8" id="8"/>
          <p:cNvSpPr txBox="true"/>
          <p:nvPr/>
        </p:nvSpPr>
        <p:spPr>
          <a:xfrm rot="0">
            <a:off x="4587633" y="3461273"/>
            <a:ext cx="3259652" cy="988695"/>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Times New Roman MT"/>
                <a:ea typeface="Times New Roman MT"/>
                <a:cs typeface="Times New Roman MT"/>
                <a:sym typeface="Times New Roman MT"/>
              </a:rPr>
              <a:t>DC Transfer Characteristic</a:t>
            </a:r>
          </a:p>
        </p:txBody>
      </p:sp>
      <p:sp>
        <p:nvSpPr>
          <p:cNvPr name="Freeform 9" id="9"/>
          <p:cNvSpPr/>
          <p:nvPr/>
        </p:nvSpPr>
        <p:spPr>
          <a:xfrm flipH="false" flipV="false" rot="0">
            <a:off x="9560782" y="2067816"/>
            <a:ext cx="6321005" cy="5743698"/>
          </a:xfrm>
          <a:custGeom>
            <a:avLst/>
            <a:gdLst/>
            <a:ahLst/>
            <a:cxnLst/>
            <a:rect r="r" b="b" t="t" l="l"/>
            <a:pathLst>
              <a:path h="5743698" w="6321005">
                <a:moveTo>
                  <a:pt x="0" y="0"/>
                </a:moveTo>
                <a:lnTo>
                  <a:pt x="6321005" y="0"/>
                </a:lnTo>
                <a:lnTo>
                  <a:pt x="6321005" y="5743698"/>
                </a:lnTo>
                <a:lnTo>
                  <a:pt x="0" y="5743698"/>
                </a:lnTo>
                <a:lnTo>
                  <a:pt x="0" y="0"/>
                </a:lnTo>
                <a:close/>
              </a:path>
            </a:pathLst>
          </a:custGeom>
          <a:blipFill>
            <a:blip r:embed="rId3"/>
            <a:stretch>
              <a:fillRect l="0" t="-372" r="0" b="-10"/>
            </a:stretch>
          </a:blipFill>
        </p:spPr>
      </p:sp>
      <p:sp>
        <p:nvSpPr>
          <p:cNvPr name="TextBox 10" id="10"/>
          <p:cNvSpPr txBox="true"/>
          <p:nvPr/>
        </p:nvSpPr>
        <p:spPr>
          <a:xfrm rot="0">
            <a:off x="11599140" y="6806644"/>
            <a:ext cx="3005360" cy="471117"/>
          </a:xfrm>
          <a:prstGeom prst="rect">
            <a:avLst/>
          </a:prstGeom>
        </p:spPr>
        <p:txBody>
          <a:bodyPr anchor="t" rtlCol="false" tIns="0" lIns="0" bIns="0" rIns="0">
            <a:spAutoFit/>
          </a:bodyPr>
          <a:lstStyle/>
          <a:p>
            <a:pPr algn="ctr">
              <a:lnSpc>
                <a:spcPts val="3485"/>
              </a:lnSpc>
              <a:spcBef>
                <a:spcPct val="0"/>
              </a:spcBef>
            </a:pPr>
            <a:r>
              <a:rPr lang="en-US" sz="2489">
                <a:solidFill>
                  <a:srgbClr val="000000"/>
                </a:solidFill>
                <a:latin typeface="Times New Roman MT"/>
                <a:ea typeface="Times New Roman MT"/>
                <a:cs typeface="Times New Roman MT"/>
                <a:sym typeface="Times New Roman MT"/>
              </a:rPr>
              <a:t>Vout</a:t>
            </a:r>
          </a:p>
        </p:txBody>
      </p:sp>
      <p:sp>
        <p:nvSpPr>
          <p:cNvPr name="TextBox 11" id="11"/>
          <p:cNvSpPr txBox="true"/>
          <p:nvPr/>
        </p:nvSpPr>
        <p:spPr>
          <a:xfrm rot="0">
            <a:off x="9560782" y="1759206"/>
            <a:ext cx="2038358" cy="512445"/>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Times New Roman MT"/>
                <a:ea typeface="Times New Roman MT"/>
                <a:cs typeface="Times New Roman MT"/>
                <a:sym typeface="Times New Roman MT"/>
              </a:rPr>
              <a:t> Iout</a:t>
            </a:r>
          </a:p>
        </p:txBody>
      </p:sp>
      <p:sp>
        <p:nvSpPr>
          <p:cNvPr name="TextBox 12" id="12"/>
          <p:cNvSpPr txBox="true"/>
          <p:nvPr/>
        </p:nvSpPr>
        <p:spPr>
          <a:xfrm rot="0">
            <a:off x="10594185" y="3257438"/>
            <a:ext cx="1004955" cy="512445"/>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Times New Roman MT"/>
                <a:ea typeface="Times New Roman MT"/>
                <a:cs typeface="Times New Roman MT"/>
                <a:sym typeface="Times New Roman MT"/>
              </a:rPr>
              <a:t>2Vov</a:t>
            </a:r>
          </a:p>
        </p:txBody>
      </p:sp>
      <p:sp>
        <p:nvSpPr>
          <p:cNvPr name="AutoShape 13" id="13"/>
          <p:cNvSpPr/>
          <p:nvPr/>
        </p:nvSpPr>
        <p:spPr>
          <a:xfrm flipH="true">
            <a:off x="11580090" y="3566048"/>
            <a:ext cx="19050" cy="3062223"/>
          </a:xfrm>
          <a:prstGeom prst="line">
            <a:avLst/>
          </a:prstGeom>
          <a:ln cap="flat" w="38100">
            <a:solidFill>
              <a:srgbClr val="000000"/>
            </a:solidFill>
            <a:prstDash val="sysDot"/>
            <a:headEnd type="none" len="sm" w="sm"/>
            <a:tailEnd type="none" len="sm" w="sm"/>
          </a:ln>
        </p:spPr>
      </p:sp>
      <p:sp>
        <p:nvSpPr>
          <p:cNvPr name="TextBox 14" id="14"/>
          <p:cNvSpPr txBox="true"/>
          <p:nvPr/>
        </p:nvSpPr>
        <p:spPr>
          <a:xfrm rot="0">
            <a:off x="12020825" y="4834890"/>
            <a:ext cx="3259652" cy="512445"/>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Times New Roman MT"/>
                <a:ea typeface="Times New Roman MT"/>
                <a:cs typeface="Times New Roman MT"/>
                <a:sym typeface="Times New Roman MT"/>
              </a:rPr>
              <a:t>Output Characteristic</a:t>
            </a:r>
          </a:p>
        </p:txBody>
      </p:sp>
      <p:sp>
        <p:nvSpPr>
          <p:cNvPr name="Freeform 15" id="15"/>
          <p:cNvSpPr/>
          <p:nvPr/>
        </p:nvSpPr>
        <p:spPr>
          <a:xfrm flipH="false" flipV="false" rot="0">
            <a:off x="13494184" y="496877"/>
            <a:ext cx="3765116" cy="1063645"/>
          </a:xfrm>
          <a:custGeom>
            <a:avLst/>
            <a:gdLst/>
            <a:ahLst/>
            <a:cxnLst/>
            <a:rect r="r" b="b" t="t" l="l"/>
            <a:pathLst>
              <a:path h="1063645" w="3765116">
                <a:moveTo>
                  <a:pt x="0" y="0"/>
                </a:moveTo>
                <a:lnTo>
                  <a:pt x="3765116" y="0"/>
                </a:lnTo>
                <a:lnTo>
                  <a:pt x="3765116" y="1063646"/>
                </a:lnTo>
                <a:lnTo>
                  <a:pt x="0" y="1063646"/>
                </a:lnTo>
                <a:lnTo>
                  <a:pt x="0" y="0"/>
                </a:lnTo>
                <a:close/>
              </a:path>
            </a:pathLst>
          </a:custGeom>
          <a:blipFill>
            <a:blip r:embed="rId4"/>
            <a:stretch>
              <a:fillRect l="0" t="0" r="0" b="0"/>
            </a:stretch>
          </a:blipFill>
        </p:spPr>
      </p:sp>
    </p:spTree>
  </p:cSld>
  <p:clrMapOvr>
    <a:masterClrMapping/>
  </p:clrMapOvr>
  <p:transition spd="fast">
    <p:push dir="l"/>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196763" y="2468230"/>
            <a:ext cx="7188260" cy="5750608"/>
          </a:xfrm>
          <a:custGeom>
            <a:avLst/>
            <a:gdLst/>
            <a:ahLst/>
            <a:cxnLst/>
            <a:rect r="r" b="b" t="t" l="l"/>
            <a:pathLst>
              <a:path h="5750608" w="7188260">
                <a:moveTo>
                  <a:pt x="0" y="0"/>
                </a:moveTo>
                <a:lnTo>
                  <a:pt x="7188260" y="0"/>
                </a:lnTo>
                <a:lnTo>
                  <a:pt x="7188260" y="5750608"/>
                </a:lnTo>
                <a:lnTo>
                  <a:pt x="0" y="5750608"/>
                </a:lnTo>
                <a:lnTo>
                  <a:pt x="0" y="0"/>
                </a:lnTo>
                <a:close/>
              </a:path>
            </a:pathLst>
          </a:custGeom>
          <a:blipFill>
            <a:blip r:embed="rId2"/>
            <a:stretch>
              <a:fillRect l="0" t="0" r="0" b="0"/>
            </a:stretch>
          </a:blipFill>
        </p:spPr>
      </p:sp>
      <p:sp>
        <p:nvSpPr>
          <p:cNvPr name="Freeform 3" id="3"/>
          <p:cNvSpPr/>
          <p:nvPr/>
        </p:nvSpPr>
        <p:spPr>
          <a:xfrm flipH="false" flipV="false" rot="0">
            <a:off x="13494184" y="496877"/>
            <a:ext cx="3765116" cy="1063645"/>
          </a:xfrm>
          <a:custGeom>
            <a:avLst/>
            <a:gdLst/>
            <a:ahLst/>
            <a:cxnLst/>
            <a:rect r="r" b="b" t="t" l="l"/>
            <a:pathLst>
              <a:path h="1063645" w="3765116">
                <a:moveTo>
                  <a:pt x="0" y="0"/>
                </a:moveTo>
                <a:lnTo>
                  <a:pt x="3765116" y="0"/>
                </a:lnTo>
                <a:lnTo>
                  <a:pt x="3765116" y="1063646"/>
                </a:lnTo>
                <a:lnTo>
                  <a:pt x="0" y="1063646"/>
                </a:lnTo>
                <a:lnTo>
                  <a:pt x="0" y="0"/>
                </a:lnTo>
                <a:close/>
              </a:path>
            </a:pathLst>
          </a:custGeom>
          <a:blipFill>
            <a:blip r:embed="rId3"/>
            <a:stretch>
              <a:fillRect l="0" t="0" r="0" b="0"/>
            </a:stretch>
          </a:blipFill>
        </p:spPr>
      </p:sp>
      <p:sp>
        <p:nvSpPr>
          <p:cNvPr name="Freeform 4" id="4"/>
          <p:cNvSpPr/>
          <p:nvPr/>
        </p:nvSpPr>
        <p:spPr>
          <a:xfrm flipH="false" flipV="false" rot="0">
            <a:off x="10744890" y="4332446"/>
            <a:ext cx="7122178" cy="1826200"/>
          </a:xfrm>
          <a:custGeom>
            <a:avLst/>
            <a:gdLst/>
            <a:ahLst/>
            <a:cxnLst/>
            <a:rect r="r" b="b" t="t" l="l"/>
            <a:pathLst>
              <a:path h="1826200" w="7122178">
                <a:moveTo>
                  <a:pt x="0" y="0"/>
                </a:moveTo>
                <a:lnTo>
                  <a:pt x="7122179" y="0"/>
                </a:lnTo>
                <a:lnTo>
                  <a:pt x="7122179" y="1826200"/>
                </a:lnTo>
                <a:lnTo>
                  <a:pt x="0" y="1826200"/>
                </a:lnTo>
                <a:lnTo>
                  <a:pt x="0" y="0"/>
                </a:lnTo>
                <a:close/>
              </a:path>
            </a:pathLst>
          </a:custGeom>
          <a:blipFill>
            <a:blip r:embed="rId4"/>
            <a:stretch>
              <a:fillRect l="0" t="0" r="0" b="0"/>
            </a:stretch>
          </a:blipFill>
        </p:spPr>
      </p:sp>
      <p:sp>
        <p:nvSpPr>
          <p:cNvPr name="TextBox 5" id="5"/>
          <p:cNvSpPr txBox="true"/>
          <p:nvPr/>
        </p:nvSpPr>
        <p:spPr>
          <a:xfrm rot="0">
            <a:off x="4161067" y="3439790"/>
            <a:ext cx="3259652" cy="512445"/>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Times New Roman MT"/>
                <a:ea typeface="Times New Roman MT"/>
                <a:cs typeface="Times New Roman MT"/>
                <a:sym typeface="Times New Roman MT"/>
              </a:rPr>
              <a:t>Gain Graph</a:t>
            </a:r>
          </a:p>
        </p:txBody>
      </p:sp>
      <p:sp>
        <p:nvSpPr>
          <p:cNvPr name="TextBox 6" id="6"/>
          <p:cNvSpPr txBox="true"/>
          <p:nvPr/>
        </p:nvSpPr>
        <p:spPr>
          <a:xfrm rot="0">
            <a:off x="4437083" y="6829104"/>
            <a:ext cx="2038358" cy="512445"/>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Times New Roman MT"/>
                <a:ea typeface="Times New Roman MT"/>
                <a:cs typeface="Times New Roman MT"/>
                <a:sym typeface="Times New Roman MT"/>
              </a:rPr>
              <a:t>Frequency</a:t>
            </a:r>
          </a:p>
        </p:txBody>
      </p:sp>
      <p:sp>
        <p:nvSpPr>
          <p:cNvPr name="TextBox 7" id="7"/>
          <p:cNvSpPr txBox="true"/>
          <p:nvPr/>
        </p:nvSpPr>
        <p:spPr>
          <a:xfrm rot="0">
            <a:off x="2254823" y="1995785"/>
            <a:ext cx="2038358" cy="512445"/>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Times New Roman MT"/>
                <a:ea typeface="Times New Roman MT"/>
                <a:cs typeface="Times New Roman MT"/>
                <a:sym typeface="Times New Roman MT"/>
              </a:rPr>
              <a:t>Gain in db</a:t>
            </a:r>
          </a:p>
        </p:txBody>
      </p:sp>
      <p:sp>
        <p:nvSpPr>
          <p:cNvPr name="TextBox 8" id="8"/>
          <p:cNvSpPr txBox="true"/>
          <p:nvPr/>
        </p:nvSpPr>
        <p:spPr>
          <a:xfrm rot="0">
            <a:off x="981727" y="829525"/>
            <a:ext cx="5096470" cy="647066"/>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MT Bold"/>
                <a:ea typeface="Times New Roman MT Bold"/>
                <a:cs typeface="Times New Roman MT Bold"/>
                <a:sym typeface="Times New Roman MT Bold"/>
              </a:rPr>
              <a:t>EXPECTED WAVEFORM</a:t>
            </a:r>
          </a:p>
        </p:txBody>
      </p:sp>
      <p:sp>
        <p:nvSpPr>
          <p:cNvPr name="TextBox 9" id="9"/>
          <p:cNvSpPr txBox="true"/>
          <p:nvPr/>
        </p:nvSpPr>
        <p:spPr>
          <a:xfrm rot="0">
            <a:off x="981727" y="4023836"/>
            <a:ext cx="3259652" cy="512445"/>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Times New Roman MT"/>
                <a:ea typeface="Times New Roman MT"/>
                <a:cs typeface="Times New Roman MT"/>
                <a:sym typeface="Times New Roman MT"/>
              </a:rPr>
              <a:t>62.54db</a:t>
            </a:r>
          </a:p>
        </p:txBody>
      </p:sp>
      <p:sp>
        <p:nvSpPr>
          <p:cNvPr name="TextBox 10" id="10"/>
          <p:cNvSpPr txBox="true"/>
          <p:nvPr/>
        </p:nvSpPr>
        <p:spPr>
          <a:xfrm rot="0">
            <a:off x="12108869" y="2059623"/>
            <a:ext cx="2493526" cy="512445"/>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Times New Roman MT"/>
                <a:ea typeface="Times New Roman MT"/>
                <a:cs typeface="Times New Roman MT"/>
                <a:sym typeface="Times New Roman MT"/>
              </a:rPr>
              <a:t>Tr</a:t>
            </a:r>
            <a:r>
              <a:rPr lang="en-US" sz="2699">
                <a:solidFill>
                  <a:srgbClr val="000000"/>
                </a:solidFill>
                <a:latin typeface="Times New Roman MT"/>
                <a:ea typeface="Times New Roman MT"/>
                <a:cs typeface="Times New Roman MT"/>
                <a:sym typeface="Times New Roman MT"/>
              </a:rPr>
              <a:t>ansient  Graph</a:t>
            </a:r>
          </a:p>
        </p:txBody>
      </p:sp>
      <p:sp>
        <p:nvSpPr>
          <p:cNvPr name="AutoShape 11" id="11"/>
          <p:cNvSpPr/>
          <p:nvPr/>
        </p:nvSpPr>
        <p:spPr>
          <a:xfrm>
            <a:off x="10849665" y="2889304"/>
            <a:ext cx="0" cy="4452245"/>
          </a:xfrm>
          <a:prstGeom prst="line">
            <a:avLst/>
          </a:prstGeom>
          <a:ln cap="flat" w="38100">
            <a:solidFill>
              <a:srgbClr val="000000"/>
            </a:solidFill>
            <a:prstDash val="solid"/>
            <a:headEnd type="triangle" len="med" w="lg"/>
            <a:tailEnd type="none" len="sm" w="sm"/>
          </a:ln>
        </p:spPr>
      </p:sp>
      <p:sp>
        <p:nvSpPr>
          <p:cNvPr name="AutoShape 12" id="12"/>
          <p:cNvSpPr/>
          <p:nvPr/>
        </p:nvSpPr>
        <p:spPr>
          <a:xfrm>
            <a:off x="10150092" y="6818614"/>
            <a:ext cx="7523202" cy="0"/>
          </a:xfrm>
          <a:prstGeom prst="line">
            <a:avLst/>
          </a:prstGeom>
          <a:ln cap="flat" w="38100">
            <a:solidFill>
              <a:srgbClr val="000000"/>
            </a:solidFill>
            <a:prstDash val="solid"/>
            <a:headEnd type="none" len="sm" w="sm"/>
            <a:tailEnd type="triangle" len="med" w="lg"/>
          </a:ln>
        </p:spPr>
      </p:sp>
      <p:sp>
        <p:nvSpPr>
          <p:cNvPr name="TextBox 13" id="13"/>
          <p:cNvSpPr txBox="true"/>
          <p:nvPr/>
        </p:nvSpPr>
        <p:spPr>
          <a:xfrm rot="0">
            <a:off x="9294114" y="3820001"/>
            <a:ext cx="1420416" cy="512445"/>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Times New Roman MT"/>
                <a:ea typeface="Times New Roman MT"/>
                <a:cs typeface="Times New Roman MT"/>
                <a:sym typeface="Times New Roman MT"/>
              </a:rPr>
              <a:t>Vout,max</a:t>
            </a:r>
          </a:p>
        </p:txBody>
      </p:sp>
      <p:sp>
        <p:nvSpPr>
          <p:cNvPr name="TextBox 14" id="14"/>
          <p:cNvSpPr txBox="true"/>
          <p:nvPr/>
        </p:nvSpPr>
        <p:spPr>
          <a:xfrm rot="0">
            <a:off x="9354835" y="6053871"/>
            <a:ext cx="1359694" cy="512445"/>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Times New Roman MT"/>
                <a:ea typeface="Times New Roman MT"/>
                <a:cs typeface="Times New Roman MT"/>
                <a:sym typeface="Times New Roman MT"/>
              </a:rPr>
              <a:t>Vout,min</a:t>
            </a:r>
          </a:p>
        </p:txBody>
      </p:sp>
      <p:sp>
        <p:nvSpPr>
          <p:cNvPr name="AutoShape 15" id="15"/>
          <p:cNvSpPr/>
          <p:nvPr/>
        </p:nvSpPr>
        <p:spPr>
          <a:xfrm>
            <a:off x="10849665" y="4109561"/>
            <a:ext cx="6492240" cy="0"/>
          </a:xfrm>
          <a:prstGeom prst="line">
            <a:avLst/>
          </a:prstGeom>
          <a:ln cap="flat" w="38100">
            <a:solidFill>
              <a:srgbClr val="000000"/>
            </a:solidFill>
            <a:prstDash val="sysDot"/>
            <a:headEnd type="none" len="sm" w="sm"/>
            <a:tailEnd type="none" len="sm" w="sm"/>
          </a:ln>
        </p:spPr>
      </p:sp>
      <p:sp>
        <p:nvSpPr>
          <p:cNvPr name="AutoShape 16" id="16"/>
          <p:cNvSpPr/>
          <p:nvPr/>
        </p:nvSpPr>
        <p:spPr>
          <a:xfrm>
            <a:off x="10767060" y="6381531"/>
            <a:ext cx="6492240" cy="0"/>
          </a:xfrm>
          <a:prstGeom prst="line">
            <a:avLst/>
          </a:prstGeom>
          <a:ln cap="flat" w="38100">
            <a:solidFill>
              <a:srgbClr val="000000"/>
            </a:solidFill>
            <a:prstDash val="sysDot"/>
            <a:headEnd type="none" len="sm" w="sm"/>
            <a:tailEnd type="none" len="sm" w="sm"/>
          </a:ln>
        </p:spPr>
      </p:sp>
    </p:spTree>
  </p:cSld>
  <p:clrMapOvr>
    <a:masterClrMapping/>
  </p:clrMapOvr>
  <p:transition spd="fast">
    <p:push dir="l"/>
  </p:transition>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2113571" y="3307637"/>
            <a:ext cx="1615493" cy="2937260"/>
          </a:xfrm>
          <a:custGeom>
            <a:avLst/>
            <a:gdLst/>
            <a:ahLst/>
            <a:cxnLst/>
            <a:rect r="r" b="b" t="t" l="l"/>
            <a:pathLst>
              <a:path h="2937260" w="1615493">
                <a:moveTo>
                  <a:pt x="0" y="0"/>
                </a:moveTo>
                <a:lnTo>
                  <a:pt x="1615493" y="0"/>
                </a:lnTo>
                <a:lnTo>
                  <a:pt x="1615493" y="2937260"/>
                </a:lnTo>
                <a:lnTo>
                  <a:pt x="0" y="29372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452688" y="1178632"/>
            <a:ext cx="4936092" cy="1247140"/>
          </a:xfrm>
          <a:prstGeom prst="rect">
            <a:avLst/>
          </a:prstGeom>
        </p:spPr>
        <p:txBody>
          <a:bodyPr anchor="t" rtlCol="false" tIns="0" lIns="0" bIns="0" rIns="0">
            <a:spAutoFit/>
          </a:bodyPr>
          <a:lstStyle/>
          <a:p>
            <a:pPr algn="l">
              <a:lnSpc>
                <a:spcPts val="4759"/>
              </a:lnSpc>
            </a:pPr>
            <a:r>
              <a:rPr lang="en-US" sz="3399" b="true">
                <a:solidFill>
                  <a:srgbClr val="000000"/>
                </a:solidFill>
                <a:latin typeface="Times New Roman MT Bold"/>
                <a:ea typeface="Times New Roman MT Bold"/>
                <a:cs typeface="Times New Roman MT Bold"/>
                <a:sym typeface="Times New Roman MT Bold"/>
              </a:rPr>
              <a:t>Performance</a:t>
            </a:r>
          </a:p>
          <a:p>
            <a:pPr algn="l">
              <a:lnSpc>
                <a:spcPts val="4759"/>
              </a:lnSpc>
              <a:spcBef>
                <a:spcPct val="0"/>
              </a:spcBef>
            </a:pPr>
          </a:p>
        </p:txBody>
      </p:sp>
      <p:sp>
        <p:nvSpPr>
          <p:cNvPr name="Freeform 4" id="4"/>
          <p:cNvSpPr/>
          <p:nvPr/>
        </p:nvSpPr>
        <p:spPr>
          <a:xfrm flipH="false" flipV="false" rot="-5400000">
            <a:off x="13791677" y="3251564"/>
            <a:ext cx="1615493" cy="2937260"/>
          </a:xfrm>
          <a:custGeom>
            <a:avLst/>
            <a:gdLst/>
            <a:ahLst/>
            <a:cxnLst/>
            <a:rect r="r" b="b" t="t" l="l"/>
            <a:pathLst>
              <a:path h="2937260" w="1615493">
                <a:moveTo>
                  <a:pt x="0" y="0"/>
                </a:moveTo>
                <a:lnTo>
                  <a:pt x="1615493" y="0"/>
                </a:lnTo>
                <a:lnTo>
                  <a:pt x="1615493" y="2937260"/>
                </a:lnTo>
                <a:lnTo>
                  <a:pt x="0" y="29372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5400000">
            <a:off x="9762017" y="3307637"/>
            <a:ext cx="1615493" cy="2937260"/>
          </a:xfrm>
          <a:custGeom>
            <a:avLst/>
            <a:gdLst/>
            <a:ahLst/>
            <a:cxnLst/>
            <a:rect r="r" b="b" t="t" l="l"/>
            <a:pathLst>
              <a:path h="2937260" w="1615493">
                <a:moveTo>
                  <a:pt x="0" y="0"/>
                </a:moveTo>
                <a:lnTo>
                  <a:pt x="1615493" y="0"/>
                </a:lnTo>
                <a:lnTo>
                  <a:pt x="1615493" y="2937260"/>
                </a:lnTo>
                <a:lnTo>
                  <a:pt x="0" y="29372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5400000">
            <a:off x="5793781" y="3307637"/>
            <a:ext cx="1615493" cy="2937260"/>
          </a:xfrm>
          <a:custGeom>
            <a:avLst/>
            <a:gdLst/>
            <a:ahLst/>
            <a:cxnLst/>
            <a:rect r="r" b="b" t="t" l="l"/>
            <a:pathLst>
              <a:path h="2937260" w="1615493">
                <a:moveTo>
                  <a:pt x="0" y="0"/>
                </a:moveTo>
                <a:lnTo>
                  <a:pt x="1615493" y="0"/>
                </a:lnTo>
                <a:lnTo>
                  <a:pt x="1615493" y="2937260"/>
                </a:lnTo>
                <a:lnTo>
                  <a:pt x="0" y="29372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2093006" y="4386059"/>
            <a:ext cx="1656622" cy="647065"/>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MT Bold"/>
                <a:ea typeface="Times New Roman MT Bold"/>
                <a:cs typeface="Times New Roman MT Bold"/>
                <a:sym typeface="Times New Roman MT Bold"/>
              </a:rPr>
              <a:t>62.54db</a:t>
            </a:r>
          </a:p>
        </p:txBody>
      </p:sp>
      <p:sp>
        <p:nvSpPr>
          <p:cNvPr name="TextBox 8" id="8"/>
          <p:cNvSpPr txBox="true"/>
          <p:nvPr/>
        </p:nvSpPr>
        <p:spPr>
          <a:xfrm rot="0">
            <a:off x="5773216" y="4386059"/>
            <a:ext cx="1656622" cy="647065"/>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MT Bold"/>
                <a:ea typeface="Times New Roman MT Bold"/>
                <a:cs typeface="Times New Roman MT Bold"/>
                <a:sym typeface="Times New Roman MT Bold"/>
              </a:rPr>
              <a:t>1.2V</a:t>
            </a:r>
          </a:p>
        </p:txBody>
      </p:sp>
      <p:sp>
        <p:nvSpPr>
          <p:cNvPr name="TextBox 9" id="9"/>
          <p:cNvSpPr txBox="true"/>
          <p:nvPr/>
        </p:nvSpPr>
        <p:spPr>
          <a:xfrm rot="0">
            <a:off x="9741452" y="4386059"/>
            <a:ext cx="1656622" cy="647065"/>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MT Bold"/>
                <a:ea typeface="Times New Roman MT Bold"/>
                <a:cs typeface="Times New Roman MT Bold"/>
                <a:sym typeface="Times New Roman MT Bold"/>
              </a:rPr>
              <a:t>125.04db</a:t>
            </a:r>
          </a:p>
        </p:txBody>
      </p:sp>
      <p:sp>
        <p:nvSpPr>
          <p:cNvPr name="TextBox 10" id="10"/>
          <p:cNvSpPr txBox="true"/>
          <p:nvPr/>
        </p:nvSpPr>
        <p:spPr>
          <a:xfrm rot="0">
            <a:off x="13771112" y="4386059"/>
            <a:ext cx="1656622" cy="647065"/>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MT Bold"/>
                <a:ea typeface="Times New Roman MT Bold"/>
                <a:cs typeface="Times New Roman MT Bold"/>
                <a:sym typeface="Times New Roman MT Bold"/>
              </a:rPr>
              <a:t>54µW</a:t>
            </a:r>
          </a:p>
        </p:txBody>
      </p:sp>
      <p:sp>
        <p:nvSpPr>
          <p:cNvPr name="TextBox 11" id="11"/>
          <p:cNvSpPr txBox="true"/>
          <p:nvPr/>
        </p:nvSpPr>
        <p:spPr>
          <a:xfrm rot="0">
            <a:off x="1034853" y="6128807"/>
            <a:ext cx="3772928" cy="512445"/>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Times New Roman MT"/>
                <a:ea typeface="Times New Roman MT"/>
                <a:cs typeface="Times New Roman MT"/>
                <a:sym typeface="Times New Roman MT"/>
              </a:rPr>
              <a:t>DC Voltage Gain </a:t>
            </a:r>
          </a:p>
        </p:txBody>
      </p:sp>
      <p:sp>
        <p:nvSpPr>
          <p:cNvPr name="TextBox 12" id="12"/>
          <p:cNvSpPr txBox="true"/>
          <p:nvPr/>
        </p:nvSpPr>
        <p:spPr>
          <a:xfrm rot="0">
            <a:off x="5186694" y="6128807"/>
            <a:ext cx="2883464" cy="512445"/>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Times New Roman MT"/>
                <a:ea typeface="Times New Roman MT"/>
                <a:cs typeface="Times New Roman MT"/>
                <a:sym typeface="Times New Roman MT"/>
              </a:rPr>
              <a:t>Output Swing (p-p)</a:t>
            </a:r>
          </a:p>
        </p:txBody>
      </p:sp>
      <p:sp>
        <p:nvSpPr>
          <p:cNvPr name="TextBox 13" id="13"/>
          <p:cNvSpPr txBox="true"/>
          <p:nvPr/>
        </p:nvSpPr>
        <p:spPr>
          <a:xfrm rot="0">
            <a:off x="8933828" y="6128807"/>
            <a:ext cx="3271871" cy="512445"/>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Times New Roman MT"/>
                <a:ea typeface="Times New Roman MT"/>
                <a:cs typeface="Times New Roman MT"/>
                <a:sym typeface="Times New Roman MT"/>
              </a:rPr>
              <a:t>CMRR performance</a:t>
            </a:r>
          </a:p>
        </p:txBody>
      </p:sp>
      <p:sp>
        <p:nvSpPr>
          <p:cNvPr name="TextBox 14" id="14"/>
          <p:cNvSpPr txBox="true"/>
          <p:nvPr/>
        </p:nvSpPr>
        <p:spPr>
          <a:xfrm rot="0">
            <a:off x="13347506" y="6128807"/>
            <a:ext cx="2720547" cy="512445"/>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Times New Roman MT"/>
                <a:ea typeface="Times New Roman MT"/>
                <a:cs typeface="Times New Roman MT"/>
                <a:sym typeface="Times New Roman MT"/>
              </a:rPr>
              <a:t>Power Dissipation</a:t>
            </a:r>
          </a:p>
        </p:txBody>
      </p:sp>
      <p:sp>
        <p:nvSpPr>
          <p:cNvPr name="Freeform 15" id="15"/>
          <p:cNvSpPr/>
          <p:nvPr/>
        </p:nvSpPr>
        <p:spPr>
          <a:xfrm flipH="false" flipV="false" rot="0">
            <a:off x="13494184" y="496877"/>
            <a:ext cx="3765116" cy="1063645"/>
          </a:xfrm>
          <a:custGeom>
            <a:avLst/>
            <a:gdLst/>
            <a:ahLst/>
            <a:cxnLst/>
            <a:rect r="r" b="b" t="t" l="l"/>
            <a:pathLst>
              <a:path h="1063645" w="3765116">
                <a:moveTo>
                  <a:pt x="0" y="0"/>
                </a:moveTo>
                <a:lnTo>
                  <a:pt x="3765116" y="0"/>
                </a:lnTo>
                <a:lnTo>
                  <a:pt x="3765116" y="1063646"/>
                </a:lnTo>
                <a:lnTo>
                  <a:pt x="0" y="1063646"/>
                </a:lnTo>
                <a:lnTo>
                  <a:pt x="0" y="0"/>
                </a:lnTo>
                <a:close/>
              </a:path>
            </a:pathLst>
          </a:custGeom>
          <a:blipFill>
            <a:blip r:embed="rId4"/>
            <a:stretch>
              <a:fillRect l="0" t="0" r="0" b="0"/>
            </a:stretch>
          </a:blipFill>
        </p:spPr>
      </p:sp>
    </p:spTree>
  </p:cSld>
  <p:clrMapOvr>
    <a:masterClrMapping/>
  </p:clrMapOvr>
  <p:transition spd="fast">
    <p:push dir="l"/>
  </p:transition>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452688" y="1178632"/>
            <a:ext cx="8334072" cy="647065"/>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MT Bold"/>
                <a:ea typeface="Times New Roman MT Bold"/>
                <a:cs typeface="Times New Roman MT Bold"/>
                <a:sym typeface="Times New Roman MT Bold"/>
              </a:rPr>
              <a:t>RESOURCES/REFERENCES USED</a:t>
            </a:r>
          </a:p>
        </p:txBody>
      </p:sp>
      <p:sp>
        <p:nvSpPr>
          <p:cNvPr name="TextBox 3" id="3"/>
          <p:cNvSpPr txBox="true"/>
          <p:nvPr/>
        </p:nvSpPr>
        <p:spPr>
          <a:xfrm rot="0">
            <a:off x="1764105" y="2599197"/>
            <a:ext cx="16523895" cy="581025"/>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000000"/>
                </a:solidFill>
                <a:latin typeface="Times New Roman MT"/>
                <a:ea typeface="Times New Roman MT"/>
                <a:cs typeface="Times New Roman MT"/>
                <a:sym typeface="Times New Roman MT"/>
              </a:rPr>
              <a:t>Behzad Razavi , Design Of Analog CMOS Integrated Circuits, Second Edition.</a:t>
            </a:r>
          </a:p>
        </p:txBody>
      </p:sp>
      <p:sp>
        <p:nvSpPr>
          <p:cNvPr name="TextBox 4" id="4"/>
          <p:cNvSpPr txBox="true"/>
          <p:nvPr/>
        </p:nvSpPr>
        <p:spPr>
          <a:xfrm rot="0">
            <a:off x="1764105" y="3782025"/>
            <a:ext cx="16523895" cy="581025"/>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000000"/>
                </a:solidFill>
                <a:latin typeface="Times New Roman MT"/>
                <a:ea typeface="Times New Roman MT"/>
                <a:cs typeface="Times New Roman MT"/>
                <a:sym typeface="Times New Roman MT"/>
              </a:rPr>
              <a:t>Analog Integrated Circuit Design , David Johns , Ken Martin, University of Toronto.</a:t>
            </a:r>
          </a:p>
        </p:txBody>
      </p:sp>
      <p:sp>
        <p:nvSpPr>
          <p:cNvPr name="TextBox 5" id="5"/>
          <p:cNvSpPr txBox="true"/>
          <p:nvPr/>
        </p:nvSpPr>
        <p:spPr>
          <a:xfrm rot="0">
            <a:off x="1764105" y="4963125"/>
            <a:ext cx="16523895" cy="581025"/>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000000"/>
                </a:solidFill>
                <a:latin typeface="Times New Roman MT"/>
                <a:ea typeface="Times New Roman MT"/>
                <a:cs typeface="Times New Roman MT"/>
                <a:sym typeface="Times New Roman MT"/>
              </a:rPr>
              <a:t>Phillip E. Allen Douglas R. Holberg crvlos Analog Circuit Design Second Edition</a:t>
            </a:r>
          </a:p>
        </p:txBody>
      </p:sp>
      <p:sp>
        <p:nvSpPr>
          <p:cNvPr name="TextBox 6" id="6"/>
          <p:cNvSpPr txBox="true"/>
          <p:nvPr/>
        </p:nvSpPr>
        <p:spPr>
          <a:xfrm rot="0">
            <a:off x="1764105" y="6144225"/>
            <a:ext cx="15495195" cy="1114425"/>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000000"/>
                </a:solidFill>
                <a:latin typeface="Times New Roman MT"/>
                <a:ea typeface="Times New Roman MT"/>
                <a:cs typeface="Times New Roman MT"/>
                <a:sym typeface="Times New Roman MT"/>
              </a:rPr>
              <a:t> P. R. Gray, P. J. Hurst, S. H. Lewis, R. G. Meyer, Analysis and Design of Analog Integrated Circuits, Fifth Edition.</a:t>
            </a:r>
          </a:p>
        </p:txBody>
      </p:sp>
      <p:sp>
        <p:nvSpPr>
          <p:cNvPr name="Freeform 7" id="7"/>
          <p:cNvSpPr/>
          <p:nvPr/>
        </p:nvSpPr>
        <p:spPr>
          <a:xfrm flipH="false" flipV="false" rot="0">
            <a:off x="13494184" y="496877"/>
            <a:ext cx="3765116" cy="1063645"/>
          </a:xfrm>
          <a:custGeom>
            <a:avLst/>
            <a:gdLst/>
            <a:ahLst/>
            <a:cxnLst/>
            <a:rect r="r" b="b" t="t" l="l"/>
            <a:pathLst>
              <a:path h="1063645" w="3765116">
                <a:moveTo>
                  <a:pt x="0" y="0"/>
                </a:moveTo>
                <a:lnTo>
                  <a:pt x="3765116" y="0"/>
                </a:lnTo>
                <a:lnTo>
                  <a:pt x="3765116" y="1063646"/>
                </a:lnTo>
                <a:lnTo>
                  <a:pt x="0" y="1063646"/>
                </a:lnTo>
                <a:lnTo>
                  <a:pt x="0" y="0"/>
                </a:lnTo>
                <a:close/>
              </a:path>
            </a:pathLst>
          </a:custGeom>
          <a:blipFill>
            <a:blip r:embed="rId2"/>
            <a:stretch>
              <a:fillRect l="0" t="0" r="0" b="0"/>
            </a:stretch>
          </a:blipFill>
        </p:spPr>
      </p:sp>
    </p:spTree>
  </p:cSld>
  <p:clrMapOvr>
    <a:masterClrMapping/>
  </p:clrMapOvr>
  <p:transition spd="fast">
    <p:push dir="l"/>
  </p:transition>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911155" y="5592153"/>
            <a:ext cx="6465689" cy="988695"/>
          </a:xfrm>
          <a:prstGeom prst="rect">
            <a:avLst/>
          </a:prstGeom>
        </p:spPr>
        <p:txBody>
          <a:bodyPr anchor="t" rtlCol="false" tIns="0" lIns="0" bIns="0" rIns="0">
            <a:spAutoFit/>
          </a:bodyPr>
          <a:lstStyle/>
          <a:p>
            <a:pPr algn="ctr">
              <a:lnSpc>
                <a:spcPts val="3779"/>
              </a:lnSpc>
              <a:spcBef>
                <a:spcPct val="0"/>
              </a:spcBef>
            </a:pPr>
          </a:p>
          <a:p>
            <a:pPr algn="ctr">
              <a:lnSpc>
                <a:spcPts val="3779"/>
              </a:lnSpc>
              <a:spcBef>
                <a:spcPct val="0"/>
              </a:spcBef>
            </a:pPr>
            <a:r>
              <a:rPr lang="en-US" sz="2699">
                <a:solidFill>
                  <a:srgbClr val="000000"/>
                </a:solidFill>
                <a:latin typeface="Times New Roman MT"/>
                <a:ea typeface="Times New Roman MT"/>
                <a:cs typeface="Times New Roman MT"/>
                <a:sym typeface="Times New Roman MT"/>
              </a:rPr>
              <a:t>Analog IC Design Mini-Project Presentation</a:t>
            </a:r>
          </a:p>
        </p:txBody>
      </p:sp>
      <p:sp>
        <p:nvSpPr>
          <p:cNvPr name="TextBox 3" id="3"/>
          <p:cNvSpPr txBox="true"/>
          <p:nvPr/>
        </p:nvSpPr>
        <p:spPr>
          <a:xfrm rot="0">
            <a:off x="6505080" y="3856311"/>
            <a:ext cx="4990449" cy="755762"/>
          </a:xfrm>
          <a:prstGeom prst="rect">
            <a:avLst/>
          </a:prstGeom>
        </p:spPr>
        <p:txBody>
          <a:bodyPr anchor="t" rtlCol="false" tIns="0" lIns="0" bIns="0" rIns="0">
            <a:spAutoFit/>
          </a:bodyPr>
          <a:lstStyle/>
          <a:p>
            <a:pPr algn="ctr">
              <a:lnSpc>
                <a:spcPts val="5593"/>
              </a:lnSpc>
              <a:spcBef>
                <a:spcPct val="0"/>
              </a:spcBef>
            </a:pPr>
            <a:r>
              <a:rPr lang="en-US" b="true" sz="3995">
                <a:solidFill>
                  <a:srgbClr val="000000"/>
                </a:solidFill>
                <a:latin typeface="Times New Roman MT Bold"/>
                <a:ea typeface="Times New Roman MT Bold"/>
                <a:cs typeface="Times New Roman MT Bold"/>
                <a:sym typeface="Times New Roman MT Bold"/>
              </a:rPr>
              <a:t>Thank </a:t>
            </a:r>
            <a:r>
              <a:rPr lang="en-US" b="true" sz="3995">
                <a:solidFill>
                  <a:srgbClr val="000000"/>
                </a:solidFill>
                <a:latin typeface="Times New Roman MT Bold"/>
                <a:ea typeface="Times New Roman MT Bold"/>
                <a:cs typeface="Times New Roman MT Bold"/>
                <a:sym typeface="Times New Roman MT Bold"/>
              </a:rPr>
              <a:t>You!</a:t>
            </a:r>
          </a:p>
        </p:txBody>
      </p:sp>
      <p:sp>
        <p:nvSpPr>
          <p:cNvPr name="Freeform 4" id="4"/>
          <p:cNvSpPr/>
          <p:nvPr/>
        </p:nvSpPr>
        <p:spPr>
          <a:xfrm flipH="false" flipV="false" rot="0">
            <a:off x="13494184" y="496877"/>
            <a:ext cx="3765116" cy="1063645"/>
          </a:xfrm>
          <a:custGeom>
            <a:avLst/>
            <a:gdLst/>
            <a:ahLst/>
            <a:cxnLst/>
            <a:rect r="r" b="b" t="t" l="l"/>
            <a:pathLst>
              <a:path h="1063645" w="3765116">
                <a:moveTo>
                  <a:pt x="0" y="0"/>
                </a:moveTo>
                <a:lnTo>
                  <a:pt x="3765116" y="0"/>
                </a:lnTo>
                <a:lnTo>
                  <a:pt x="3765116" y="1063646"/>
                </a:lnTo>
                <a:lnTo>
                  <a:pt x="0" y="1063646"/>
                </a:lnTo>
                <a:lnTo>
                  <a:pt x="0" y="0"/>
                </a:lnTo>
                <a:close/>
              </a:path>
            </a:pathLst>
          </a:custGeom>
          <a:blipFill>
            <a:blip r:embed="rId2"/>
            <a:stretch>
              <a:fillRect l="0" t="0" r="0" b="0"/>
            </a:stretch>
          </a:blipFill>
        </p:spPr>
      </p:sp>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DAHUnCgrVqY</dc:identifier>
  <dcterms:modified xsi:type="dcterms:W3CDTF">2011-08-01T06:04:30Z</dcterms:modified>
  <cp:revision>1</cp:revision>
  <dc:title>Mini-Project Analog IC Design</dc:title>
</cp:coreProperties>
</file>